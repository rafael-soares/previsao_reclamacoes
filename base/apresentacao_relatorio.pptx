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2" r:id="rId9"/>
    <p:sldId id="263" r:id="rId10"/>
    <p:sldId id="265" r:id="rId11"/>
    <p:sldId id="264" r:id="rId12"/>
    <p:sldId id="270" r:id="rId13"/>
    <p:sldId id="267" r:id="rId14"/>
    <p:sldId id="269" r:id="rId15"/>
  </p:sldIdLst>
  <p:sldSz cx="12192000" cy="6858000"/>
  <p:notesSz cx="6858000" cy="9144000"/>
  <p:embeddedFontLst>
    <p:embeddedFont>
      <p:font typeface="Inter"/>
      <p:bold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4985089-BDC0-E97B-2B24-E2D4081C4F1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95950" y="6611620"/>
            <a:ext cx="8318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2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Internal Use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762000"/>
            <a:ext cx="762000" cy="76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4953000"/>
            <a:ext cx="3302049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445049" y="4953000"/>
            <a:ext cx="3302049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128099" y="4953000"/>
            <a:ext cx="3302049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4953000"/>
            <a:ext cx="330204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445049" y="4953000"/>
            <a:ext cx="330204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28099" y="4953000"/>
            <a:ext cx="330204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2000" y="1219200"/>
            <a:ext cx="11430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38BDF8"/>
                </a:solidFill>
                <a:latin typeface="Inter"/>
              </a:rPr>
              <a:t>PPGTI / UFRN — DISCIPLINA DE APRENDIZADO POR REFORÇO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600200"/>
            <a:ext cx="9101137" cy="1340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sz="4800" b="1" i="0" u="none">
                <a:solidFill>
                  <a:srgbClr val="F8FAFC"/>
                </a:solidFill>
                <a:latin typeface="Inter"/>
              </a:rPr>
              <a:t>Experimentos em Aprendizado por Reforço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245941"/>
            <a:ext cx="11430000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94A3B8"/>
                </a:solidFill>
                <a:latin typeface="Inter"/>
              </a:rPr>
              <a:t>Rafael Pereira de Alexandria Soares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191125"/>
            <a:ext cx="41275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8FAFC"/>
                </a:solidFill>
                <a:latin typeface="Inter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495925"/>
            <a:ext cx="33972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Consolidar teoria via experimentação prática.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49" y="5191125"/>
            <a:ext cx="41275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8FAFC"/>
                </a:solidFill>
                <a:latin typeface="Inter"/>
              </a:rPr>
              <a:t>Algoritmos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49" y="5495925"/>
            <a:ext cx="33972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Tabulares: SARSA(0), Q-Learning(0).</a:t>
            </a:r>
            <a:r>
              <a:t>
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Profundos: DQN, DDQN.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99" y="5191125"/>
            <a:ext cx="40639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8FAFC"/>
                </a:solidFill>
                <a:latin typeface="Inter"/>
              </a:rPr>
              <a:t>Ambientes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99" y="5495925"/>
            <a:ext cx="339729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FrozenLake, Blackjack, CliffWalking, Taxi, CartPole, MountainCar, Pong, Space Invaders.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29758" y="1895475"/>
            <a:ext cx="5652641" cy="4962525"/>
          </a:xfrm>
          <a:prstGeom prst="roundRect">
            <a:avLst>
              <a:gd name="adj" fmla="val 3501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FrozenLake: aprendizado e estabilidade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Ambos os algoritmos resolveram a tarefa, com diferenças na estabilidade.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02693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Horizontes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Treinamentos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de 5.000 e 10.000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episódios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87315"/>
            <a:ext cx="4501008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Eficácia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Sucesso final </a:t>
            </a:r>
            <a:r>
              <a:rPr lang="pt-BR" dirty="0">
                <a:solidFill>
                  <a:srgbClr val="334155"/>
                </a:solidFill>
                <a:latin typeface="Inter"/>
              </a:rPr>
              <a:t>satisfatório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nas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quatro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configurações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71937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Q-Learning: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Maior regularidade nas avaliações periódicas.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56559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SARSA: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Oscilações frequentes durante o treinamento.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91473" y="4300537"/>
            <a:ext cx="392906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F172A"/>
                </a:solidFill>
                <a:latin typeface="Inter"/>
              </a:rPr>
              <a:t>Posicionamento: Centralizado neste quadro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502693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28731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071937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856559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45F66401-B2B4-718A-B681-7E406A7F0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337" y="1983458"/>
            <a:ext cx="4932263" cy="2507579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FC185B9-750C-8B09-BB8D-98C2BD740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337" y="4529232"/>
            <a:ext cx="4932263" cy="20786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4">
            <a:extLst>
              <a:ext uri="{FF2B5EF4-FFF2-40B4-BE49-F238E27FC236}">
                <a16:creationId xmlns:a16="http://schemas.microsoft.com/office/drawing/2014/main" id="{1F7E3834-B26B-A790-A29C-CE2D490F07B3}"/>
              </a:ext>
            </a:extLst>
          </p:cNvPr>
          <p:cNvSpPr/>
          <p:nvPr/>
        </p:nvSpPr>
        <p:spPr>
          <a:xfrm>
            <a:off x="7551037" y="3500636"/>
            <a:ext cx="4042476" cy="3170919"/>
          </a:xfrm>
          <a:prstGeom prst="roundRect">
            <a:avLst>
              <a:gd name="adj" fmla="val 6060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ounded Rectangle 1"/>
          <p:cNvSpPr/>
          <p:nvPr/>
        </p:nvSpPr>
        <p:spPr>
          <a:xfrm>
            <a:off x="609600" y="1895475"/>
            <a:ext cx="3359199" cy="1457325"/>
          </a:xfrm>
          <a:prstGeom prst="roundRect">
            <a:avLst>
              <a:gd name="adj" fmla="val 7843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25999" y="1895475"/>
            <a:ext cx="3359199" cy="1457325"/>
          </a:xfrm>
          <a:prstGeom prst="roundRect">
            <a:avLst>
              <a:gd name="adj" fmla="val 7843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42398" y="1895475"/>
            <a:ext cx="3340149" cy="1457325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66750" y="3580772"/>
            <a:ext cx="5498904" cy="2667628"/>
          </a:xfrm>
          <a:prstGeom prst="roundRect">
            <a:avLst>
              <a:gd name="adj" fmla="val 6060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895475"/>
            <a:ext cx="57150" cy="1457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425999" y="1895475"/>
            <a:ext cx="57150" cy="145732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609600"/>
            <a:ext cx="11582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0F172A"/>
                </a:solidFill>
                <a:latin typeface="Inter"/>
              </a:rPr>
              <a:t>Blackjack: </a:t>
            </a:r>
            <a:r>
              <a:rPr sz="3000" b="1" i="0" u="none" dirty="0" err="1">
                <a:solidFill>
                  <a:srgbClr val="0F172A"/>
                </a:solidFill>
                <a:latin typeface="Inter"/>
              </a:rPr>
              <a:t>resultados</a:t>
            </a:r>
            <a:r>
              <a:rPr sz="3000" b="1" i="0" u="none" dirty="0">
                <a:solidFill>
                  <a:srgbClr val="0F172A"/>
                </a:solidFill>
                <a:latin typeface="Inter"/>
              </a:rPr>
              <a:t> </a:t>
            </a:r>
            <a:r>
              <a:rPr sz="3000" b="1" i="0" u="none" dirty="0" err="1">
                <a:solidFill>
                  <a:srgbClr val="0F172A"/>
                </a:solidFill>
                <a:latin typeface="Inter"/>
              </a:rPr>
              <a:t>próximos</a:t>
            </a:r>
            <a:r>
              <a:rPr sz="3000" b="1" i="0" u="none" dirty="0">
                <a:solidFill>
                  <a:srgbClr val="0F172A"/>
                </a:solidFill>
                <a:latin typeface="Inter"/>
              </a:rPr>
              <a:t> entre </a:t>
            </a:r>
            <a:r>
              <a:rPr sz="3000" b="1" i="0" u="none" dirty="0" err="1">
                <a:solidFill>
                  <a:srgbClr val="0F172A"/>
                </a:solidFill>
                <a:latin typeface="Inter"/>
              </a:rPr>
              <a:t>algoritmos</a:t>
            </a:r>
            <a:endParaRPr sz="3000" b="1" i="0" u="none" dirty="0">
              <a:solidFill>
                <a:srgbClr val="0F172A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Desempenho semelhante e amplamente superior à política aleatória.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200275"/>
            <a:ext cx="3365562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4200" b="1" i="0" u="none">
                <a:solidFill>
                  <a:srgbClr val="0F172A"/>
                </a:solidFill>
                <a:latin typeface="Inter"/>
              </a:rPr>
              <a:t>42,59%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2809875"/>
            <a:ext cx="3365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Inter"/>
              </a:rPr>
              <a:t>VITÓRIAS Q-LEARNING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7949" y="2200275"/>
            <a:ext cx="3365562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4200" b="1" i="0" u="none" dirty="0">
                <a:solidFill>
                  <a:srgbClr val="0F172A"/>
                </a:solidFill>
                <a:latin typeface="Inter"/>
              </a:rPr>
              <a:t>42,67%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7949" y="2809875"/>
            <a:ext cx="3365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Inter"/>
              </a:rPr>
              <a:t>VITÓRIAS SARSA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6248" y="2219325"/>
            <a:ext cx="3365562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4200" b="1" i="0" u="none" dirty="0">
                <a:solidFill>
                  <a:srgbClr val="64748B"/>
                </a:solidFill>
                <a:latin typeface="Inter"/>
              </a:rPr>
              <a:t>28,32%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6248" y="2828925"/>
            <a:ext cx="3365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64748B"/>
                </a:solidFill>
                <a:latin typeface="Inter"/>
              </a:rPr>
              <a:t>REFERÊNCIA ALEATÓRIA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93B02EA5-FE85-183A-C8CA-32A21900E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654" y="3916866"/>
            <a:ext cx="5131095" cy="1950533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39DD99E4-640D-A151-A490-D03991F71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037" y="3559057"/>
            <a:ext cx="3078695" cy="30645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68772B-C0B4-4AFE-7B9C-53F9F7E47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26DF5DB-1D70-9A5F-6BC0-79660977481C}"/>
              </a:ext>
            </a:extLst>
          </p:cNvPr>
          <p:cNvSpPr/>
          <p:nvPr/>
        </p:nvSpPr>
        <p:spPr>
          <a:xfrm>
            <a:off x="609600" y="1895475"/>
            <a:ext cx="5652641" cy="4352925"/>
          </a:xfrm>
          <a:prstGeom prst="roundRect">
            <a:avLst>
              <a:gd name="adj" fmla="val 3501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4538CA-7AD7-0C27-AE26-C7B51A89FFFD}"/>
              </a:ext>
            </a:extLst>
          </p:cNvPr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CliffWalking: eficiência versus risco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58871-E58A-151A-9F60-747E21F44901}"/>
              </a:ext>
            </a:extLst>
          </p:cNvPr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A trajetória mais curta não é a mais segura sob exploração ativa.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6E085E-1875-6FE6-0552-581A7138BFB1}"/>
              </a:ext>
            </a:extLst>
          </p:cNvPr>
          <p:cNvSpPr txBox="1"/>
          <p:nvPr/>
        </p:nvSpPr>
        <p:spPr>
          <a:xfrm>
            <a:off x="7176641" y="2502693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Q-Learning: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Trajetórias gulosas de 13 passos (rente ao abismo).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41C52-8CA2-3107-6D05-315644A2A7E9}"/>
              </a:ext>
            </a:extLst>
          </p:cNvPr>
          <p:cNvSpPr txBox="1"/>
          <p:nvPr/>
        </p:nvSpPr>
        <p:spPr>
          <a:xfrm>
            <a:off x="7176641" y="3287315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SARSA: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Trajetórias conservadoras de 17 passos.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0A9E2F-070A-CED0-F78F-B7C4210F3478}"/>
              </a:ext>
            </a:extLst>
          </p:cNvPr>
          <p:cNvSpPr txBox="1"/>
          <p:nvPr/>
        </p:nvSpPr>
        <p:spPr>
          <a:xfrm>
            <a:off x="7176641" y="4951016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Exploração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23,7% de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quedas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no Q-Learning;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apenas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2,8% no SARSA.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92640-8D0E-83E3-994A-26BD1BF9561B}"/>
              </a:ext>
            </a:extLst>
          </p:cNvPr>
          <p:cNvSpPr txBox="1"/>
          <p:nvPr/>
        </p:nvSpPr>
        <p:spPr>
          <a:xfrm>
            <a:off x="7176641" y="4081065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Limitação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Uma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semente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SARSA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falhou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na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avaliação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gulosa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EA572-BDDC-0D6E-4487-90B43FBBF6F3}"/>
              </a:ext>
            </a:extLst>
          </p:cNvPr>
          <p:cNvSpPr txBox="1"/>
          <p:nvPr/>
        </p:nvSpPr>
        <p:spPr>
          <a:xfrm>
            <a:off x="6871841" y="2502693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F02F9D-816E-C5AA-489E-8CB9AE4D28B5}"/>
              </a:ext>
            </a:extLst>
          </p:cNvPr>
          <p:cNvSpPr txBox="1"/>
          <p:nvPr/>
        </p:nvSpPr>
        <p:spPr>
          <a:xfrm>
            <a:off x="6871841" y="328731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E81E76-DD69-4DCE-9EA2-9372CFD76FD7}"/>
              </a:ext>
            </a:extLst>
          </p:cNvPr>
          <p:cNvSpPr txBox="1"/>
          <p:nvPr/>
        </p:nvSpPr>
        <p:spPr>
          <a:xfrm>
            <a:off x="6871841" y="4951016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 dirty="0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10B8-4A12-D336-99A4-96FDE437E3C2}"/>
              </a:ext>
            </a:extLst>
          </p:cNvPr>
          <p:cNvSpPr txBox="1"/>
          <p:nvPr/>
        </p:nvSpPr>
        <p:spPr>
          <a:xfrm>
            <a:off x="6871841" y="408106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1DBDA5C-254F-0C8D-3217-CF7A1ABF4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46" y="2177143"/>
            <a:ext cx="5286954" cy="365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044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22405" y="2481241"/>
            <a:ext cx="5652641" cy="3025776"/>
          </a:xfrm>
          <a:prstGeom prst="roundRect">
            <a:avLst>
              <a:gd name="adj" fmla="val 3501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CliffWalking: eficiência versus risco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A trajetória mais curta não é a mais segura sob exploração ativa.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F76BF52E-6751-7091-7F69-FFB3EF1F1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10" y="2731293"/>
            <a:ext cx="5427030" cy="2441915"/>
          </a:xfrm>
          <a:prstGeom prst="rect">
            <a:avLst/>
          </a:prstGeom>
        </p:spPr>
      </p:pic>
      <p:sp>
        <p:nvSpPr>
          <p:cNvPr id="19" name="TextBox 6">
            <a:extLst>
              <a:ext uri="{FF2B5EF4-FFF2-40B4-BE49-F238E27FC236}">
                <a16:creationId xmlns:a16="http://schemas.microsoft.com/office/drawing/2014/main" id="{B4473AB5-CED5-3BEF-01C4-D96E18D5FC32}"/>
              </a:ext>
            </a:extLst>
          </p:cNvPr>
          <p:cNvSpPr txBox="1"/>
          <p:nvPr/>
        </p:nvSpPr>
        <p:spPr>
          <a:xfrm>
            <a:off x="7176641" y="2502693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Q-Learning: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Trajetórias gulosas de 13 passos (rente ao abismo).</a:t>
            </a:r>
          </a:p>
        </p:txBody>
      </p:sp>
      <p:sp>
        <p:nvSpPr>
          <p:cNvPr id="20" name="TextBox 7">
            <a:extLst>
              <a:ext uri="{FF2B5EF4-FFF2-40B4-BE49-F238E27FC236}">
                <a16:creationId xmlns:a16="http://schemas.microsoft.com/office/drawing/2014/main" id="{0C0DACDC-EF08-C159-1D82-65E3DFB40F46}"/>
              </a:ext>
            </a:extLst>
          </p:cNvPr>
          <p:cNvSpPr txBox="1"/>
          <p:nvPr/>
        </p:nvSpPr>
        <p:spPr>
          <a:xfrm>
            <a:off x="7176641" y="3287315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SARSA: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Trajetórias conservadoras de 17 passos.</a:t>
            </a: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DA333EA0-9582-5245-4978-6CE0F6495232}"/>
              </a:ext>
            </a:extLst>
          </p:cNvPr>
          <p:cNvSpPr txBox="1"/>
          <p:nvPr/>
        </p:nvSpPr>
        <p:spPr>
          <a:xfrm>
            <a:off x="7176641" y="4951016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Exploração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23,7% de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quedas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no Q-Learning;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apenas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2,8% no SARSA.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18489752-4C82-F55C-D358-29465EF1BC5D}"/>
              </a:ext>
            </a:extLst>
          </p:cNvPr>
          <p:cNvSpPr txBox="1"/>
          <p:nvPr/>
        </p:nvSpPr>
        <p:spPr>
          <a:xfrm>
            <a:off x="7176641" y="4081065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Limitação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Uma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semente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SARSA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falhou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na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avaliação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gulosa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66C800EB-A3DE-3E83-1D9E-A34C0BCAB87C}"/>
              </a:ext>
            </a:extLst>
          </p:cNvPr>
          <p:cNvSpPr txBox="1"/>
          <p:nvPr/>
        </p:nvSpPr>
        <p:spPr>
          <a:xfrm>
            <a:off x="6871841" y="2502693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0418FD83-BB12-625C-D60E-4DAF6EFE6F25}"/>
              </a:ext>
            </a:extLst>
          </p:cNvPr>
          <p:cNvSpPr txBox="1"/>
          <p:nvPr/>
        </p:nvSpPr>
        <p:spPr>
          <a:xfrm>
            <a:off x="6871841" y="328731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430F2081-B191-FB7E-6EDC-8B41D7725B66}"/>
              </a:ext>
            </a:extLst>
          </p:cNvPr>
          <p:cNvSpPr txBox="1"/>
          <p:nvPr/>
        </p:nvSpPr>
        <p:spPr>
          <a:xfrm>
            <a:off x="6871841" y="4951016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 dirty="0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2CD893DE-E027-E401-E07C-822F64A1C0FA}"/>
              </a:ext>
            </a:extLst>
          </p:cNvPr>
          <p:cNvSpPr txBox="1"/>
          <p:nvPr/>
        </p:nvSpPr>
        <p:spPr>
          <a:xfrm>
            <a:off x="6871841" y="408106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819275"/>
            <a:ext cx="3505200" cy="99060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1819275"/>
            <a:ext cx="3505200" cy="99060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1819275"/>
            <a:ext cx="3505200" cy="99060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114675"/>
            <a:ext cx="10972800" cy="3133725"/>
          </a:xfrm>
          <a:prstGeom prst="roundRect">
            <a:avLst>
              <a:gd name="adj" fmla="val 4863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162175"/>
            <a:ext cx="26670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900" y="2162175"/>
            <a:ext cx="304800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700" y="2162175"/>
            <a:ext cx="2667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Taxi: velocidade de aprendizagem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Mesmo desempenho final, mas Q-Learning aprendeu mais rápido.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009775"/>
            <a:ext cx="33813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Q-Learning Rápido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2238375"/>
            <a:ext cx="2800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100% de entregas em 4.000 episódios.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1100" y="2009775"/>
            <a:ext cx="33337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SARSA Gradual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1100" y="2238375"/>
            <a:ext cx="27622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100% de entregas em 16.000 episódios.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05025"/>
            <a:ext cx="32146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Convergência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3625"/>
            <a:ext cx="3214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Ambos 100% sucesso (+7,949 pts).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1A14D3E-1CF8-46EE-EACA-312D7E976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2" y="3381375"/>
            <a:ext cx="5033708" cy="2493951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E4868E82-A208-AB9C-8E64-E556230FF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08" y="3381375"/>
            <a:ext cx="5033710" cy="24939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254171" y="1961852"/>
            <a:ext cx="6821715" cy="3801069"/>
          </a:xfrm>
          <a:prstGeom prst="roundRect">
            <a:avLst>
              <a:gd name="adj" fmla="val 3501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CartPole: algoritmos tabulares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Refinamento da discretização favoreceu o SARSA de forma consistente.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1852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Discretização: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Duas configurações espaciais testadas.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6474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Q-Learning (B):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Recompensa média final de 389,483.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31096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SARSA (B):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Recompensa média máxima de 500,000.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15717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Robustez: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SARSA atingiu limite em 100% das 600 partidas finais.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00339"/>
            <a:ext cx="4501008" cy="891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Variabilidade: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Refinamento não beneficiou sementes do Q-Learning uniformemente.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961852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746474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531096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15717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100339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BEFD8D39-7F14-1881-DA53-9CBC69E9A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130" y="2406129"/>
            <a:ext cx="6495796" cy="29228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1044" y="2249714"/>
            <a:ext cx="6199413" cy="3417662"/>
          </a:xfrm>
          <a:prstGeom prst="roundRect">
            <a:avLst>
              <a:gd name="adj" fmla="val 3501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CartPole: DQN versus DDQN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Aprendizado profundo mostrou extrema sensibilidade à semente e exploração.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6641" y="2354163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Média Final (B):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DQN: 276,503 | DDQN: 242,557.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6641" y="3138785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Extremos: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DDQN semente 11 atingiu 500 pts; outras falharam.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6641" y="3923407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Instabilidade: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Resultados mostram ausência de superioridade uniforme.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641" y="4708028"/>
            <a:ext cx="4501008" cy="891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 dirty="0" err="1">
                <a:solidFill>
                  <a:srgbClr val="334155"/>
                </a:solidFill>
                <a:latin typeface="Inter"/>
              </a:rPr>
              <a:t>Comparação</a:t>
            </a:r>
            <a:r>
              <a:rPr sz="18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Orçamentos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diferentes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impedem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conclusão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sobre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rgbClr val="334155"/>
                </a:solidFill>
                <a:latin typeface="Inter"/>
              </a:rPr>
              <a:t>tabulares</a:t>
            </a:r>
            <a:r>
              <a:rPr sz="1800" b="0" i="0" u="none" dirty="0">
                <a:solidFill>
                  <a:srgbClr val="334155"/>
                </a:solidFill>
                <a:latin typeface="Inter"/>
              </a:rPr>
              <a:t> vs redes.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841" y="2354163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1841" y="313878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1841" y="3923407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1841" y="4708028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7AD442C4-F82A-85AD-B71F-B4FA4FAB5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05" y="2514741"/>
            <a:ext cx="5798690" cy="28700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29758" y="2354163"/>
            <a:ext cx="5652641" cy="3016447"/>
          </a:xfrm>
          <a:prstGeom prst="roundRect">
            <a:avLst>
              <a:gd name="adj" fmla="val 3501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MountainCar: aprendizado com demonstrações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Treinamento híbrido superou o desafio das recompensas esparsas.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54163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Auxílio: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80 trajetórias demonstrativas prévias (9.565 transições).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38785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Mistura: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25% de cada minibatch proveniente das demonstrações.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23407"/>
            <a:ext cx="4501008" cy="594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Sucesso Final: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DQN: 100% de eficácia. DDQN: 98,67%.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8028"/>
            <a:ext cx="4501008" cy="891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334155"/>
                </a:solidFill>
                <a:latin typeface="Inter"/>
              </a:rPr>
              <a:t>Ressalva:</a:t>
            </a:r>
            <a:r>
              <a:rPr sz="1800" b="0" i="0" u="none">
                <a:solidFill>
                  <a:srgbClr val="334155"/>
                </a:solidFill>
                <a:latin typeface="Inter"/>
              </a:rPr>
              <a:t> Sem auxílio demonstrativo, o treinamento inicial autônomo não convergira.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354163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138785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23407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08028"/>
            <a:ext cx="1143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 i="0" u="none">
                <a:solidFill>
                  <a:srgbClr val="0284C7"/>
                </a:solidFill>
                <a:latin typeface="Inter"/>
              </a:rPr>
              <a:t>■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0F21B973-E625-349C-A097-7DEC89A63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22789"/>
            <a:ext cx="5250248" cy="26012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9146976"/>
            <a:ext cx="1097280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9146976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14350" y="1587401"/>
            <a:ext cx="2571750" cy="1362075"/>
          </a:xfrm>
          <a:prstGeom prst="roundRect">
            <a:avLst>
              <a:gd name="adj" fmla="val 8391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238500" y="1587401"/>
            <a:ext cx="2571750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14350" y="3663851"/>
            <a:ext cx="3013471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27821" y="3663851"/>
            <a:ext cx="1141065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668887" y="3663851"/>
            <a:ext cx="1141362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4350" y="4221064"/>
            <a:ext cx="30134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527821" y="4221064"/>
            <a:ext cx="11410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68887" y="4221064"/>
            <a:ext cx="11413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14350" y="4763989"/>
            <a:ext cx="30134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7821" y="4763989"/>
            <a:ext cx="11410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68887" y="4763989"/>
            <a:ext cx="11413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4350" y="5306914"/>
            <a:ext cx="30134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27821" y="5306914"/>
            <a:ext cx="11410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68887" y="5306914"/>
            <a:ext cx="11413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2" y="1584951"/>
            <a:ext cx="5846082" cy="2670439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5071" y="4523594"/>
            <a:ext cx="5658411" cy="2248532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067989"/>
              </p:ext>
            </p:extLst>
          </p:nvPr>
        </p:nvGraphicFramePr>
        <p:xfrm>
          <a:off x="514350" y="3178076"/>
          <a:ext cx="5295898" cy="2143125"/>
        </p:xfrm>
        <a:graphic>
          <a:graphicData uri="http://schemas.openxmlformats.org/drawingml/2006/table">
            <a:tbl>
              <a:tblPr/>
              <a:tblGrid>
                <a:gridCol w="3013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13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64748B"/>
                          </a:solidFill>
                          <a:latin typeface="Inter"/>
                        </a:rPr>
                        <a:t>Indicador (30 partidas)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u="none">
                          <a:solidFill>
                            <a:srgbClr val="64748B"/>
                          </a:solidFill>
                          <a:latin typeface="Inter"/>
                        </a:rPr>
                        <a:t>DQN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u="none">
                          <a:solidFill>
                            <a:srgbClr val="64748B"/>
                          </a:solidFill>
                          <a:latin typeface="Inter"/>
                        </a:rPr>
                        <a:t>DDQN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F172A"/>
                          </a:solidFill>
                          <a:latin typeface="Inter"/>
                        </a:rPr>
                        <a:t>Vitórias absolutas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F172A"/>
                          </a:solidFill>
                          <a:latin typeface="monospace"/>
                        </a:rPr>
                        <a:t>28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F172A"/>
                          </a:solidFill>
                          <a:latin typeface="monospace"/>
                        </a:rPr>
                        <a:t>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F172A"/>
                          </a:solidFill>
                          <a:latin typeface="Inter"/>
                        </a:rPr>
                        <a:t>Pontos marcados p/ partida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F172A"/>
                          </a:solidFill>
                          <a:latin typeface="monospace"/>
                        </a:rPr>
                        <a:t>20,93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 dirty="0">
                          <a:solidFill>
                            <a:srgbClr val="0F172A"/>
                          </a:solidFill>
                          <a:latin typeface="monospace"/>
                        </a:rPr>
                        <a:t>17,77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2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F172A"/>
                          </a:solidFill>
                          <a:latin typeface="Inter"/>
                        </a:rPr>
                        <a:t>Pontos sofridos p/ partida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F172A"/>
                          </a:solidFill>
                          <a:latin typeface="monospace"/>
                        </a:rPr>
                        <a:t>8,83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 dirty="0">
                          <a:solidFill>
                            <a:srgbClr val="0F172A"/>
                          </a:solidFill>
                          <a:latin typeface="monospace"/>
                        </a:rPr>
                        <a:t>19,90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09600" y="60960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Pong: </a:t>
            </a:r>
            <a:r>
              <a:rPr sz="2700" b="1" i="0" u="none">
                <a:solidFill>
                  <a:srgbClr val="3B82F6"/>
                </a:solidFill>
                <a:latin typeface="Space Grotesk"/>
              </a:rPr>
              <a:t>DQN supera DDQN após 2M de decisões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2395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Treinamento prolongado de 2.000.000 decisões (CNN, 1 semente).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381000" y="9385101"/>
            <a:ext cx="12954000" cy="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34155"/>
                </a:solidFill>
                <a:latin typeface="Inter"/>
              </a:rPr>
              <a:t>O DQN apresentou maior desempenho final, embora ambos os agentes tenham demonstrado instabilidade e aprendizado gradual.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475" y="1825526"/>
            <a:ext cx="26193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1D4ED8"/>
                </a:solidFill>
                <a:latin typeface="Inter"/>
              </a:rPr>
              <a:t>DQN — VITÓRIAS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475" y="2016026"/>
            <a:ext cx="261937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1E3A8A"/>
                </a:solidFill>
                <a:latin typeface="Inter"/>
              </a:rPr>
              <a:t>93,3%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" y="2549426"/>
            <a:ext cx="26193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B82F6"/>
                </a:solidFill>
                <a:latin typeface="Inter"/>
              </a:rPr>
              <a:t>+12,10 Recompensa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6625" y="1825526"/>
            <a:ext cx="26193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Inter"/>
              </a:rPr>
              <a:t>DDQN — VITÓRIAS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6625" y="2016026"/>
            <a:ext cx="261937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475569"/>
                </a:solidFill>
                <a:latin typeface="Inter"/>
              </a:rPr>
              <a:t>30,0%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6625" y="2549426"/>
            <a:ext cx="26193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Inter"/>
              </a:rPr>
              <a:t>−2,13 Recompensa</a:t>
            </a: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9D7BFD55-60AD-1989-F1AF-4892410DE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2" y="1690308"/>
            <a:ext cx="5551731" cy="2469931"/>
          </a:xfrm>
          <a:prstGeom prst="rect">
            <a:avLst/>
          </a:prstGeom>
        </p:spPr>
      </p:pic>
      <p:pic>
        <p:nvPicPr>
          <p:cNvPr id="37" name="Imagem 36">
            <a:extLst>
              <a:ext uri="{FF2B5EF4-FFF2-40B4-BE49-F238E27FC236}">
                <a16:creationId xmlns:a16="http://schemas.microsoft.com/office/drawing/2014/main" id="{FDBFC8FD-3153-1BF5-D942-EE4DD37779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2643" y="4619834"/>
            <a:ext cx="4100771" cy="20104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819275"/>
            <a:ext cx="3505200" cy="1190625"/>
          </a:xfrm>
          <a:prstGeom prst="roundRect">
            <a:avLst>
              <a:gd name="adj" fmla="val 96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1819275"/>
            <a:ext cx="3505200" cy="1190625"/>
          </a:xfrm>
          <a:prstGeom prst="roundRect">
            <a:avLst>
              <a:gd name="adj" fmla="val 96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1819275"/>
            <a:ext cx="3505200" cy="1190625"/>
          </a:xfrm>
          <a:prstGeom prst="roundRect">
            <a:avLst>
              <a:gd name="adj" fmla="val 96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314700"/>
            <a:ext cx="10972800" cy="2933700"/>
          </a:xfrm>
          <a:prstGeom prst="roundRect">
            <a:avLst>
              <a:gd name="adj" fmla="val 5194"/>
            </a:avLst>
          </a:prstGeom>
          <a:solidFill>
            <a:srgbClr val="F1F5F9"/>
          </a:solidFill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819275"/>
            <a:ext cx="57150" cy="11906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43400" y="1819275"/>
            <a:ext cx="57150" cy="1190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77200" y="1819275"/>
            <a:ext cx="57150" cy="119062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6096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Space Invaders: aprendizado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1906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64748B"/>
                </a:solidFill>
                <a:latin typeface="Inter"/>
              </a:rPr>
              <a:t>Ambos os agentes superaram a referência aleatória, sem avanço monotônico.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373856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64748B"/>
                </a:solidFill>
                <a:latin typeface="Inter"/>
              </a:rPr>
              <a:t>151,50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581275"/>
            <a:ext cx="3738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Inter"/>
              </a:rPr>
              <a:t>AGENTE ALEATÓRIO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9150" y="2047875"/>
            <a:ext cx="373856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0F172A"/>
                </a:solidFill>
                <a:latin typeface="Inter"/>
              </a:rPr>
              <a:t>381,67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9150" y="2581275"/>
            <a:ext cx="3738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Inter"/>
              </a:rPr>
              <a:t>MÉDIA DQN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2950" y="2047875"/>
            <a:ext cx="373856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0F172A"/>
                </a:solidFill>
                <a:latin typeface="Inter"/>
              </a:rPr>
              <a:t>444,17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2950" y="2581275"/>
            <a:ext cx="3738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Inter"/>
              </a:rPr>
              <a:t>MÉDIA DDQN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1FD3FB26-EA3C-4F3F-AD69-B4874F544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781" y="3543300"/>
            <a:ext cx="5152635" cy="2339265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E37304FF-C1B9-F637-7DD9-5489443D1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64" y="3543301"/>
            <a:ext cx="5152635" cy="2339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52575"/>
            <a:ext cx="3505200" cy="2119312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1552575"/>
            <a:ext cx="3505200" cy="2119312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1552575"/>
            <a:ext cx="3505200" cy="2119312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900487"/>
            <a:ext cx="3505200" cy="2347912"/>
          </a:xfrm>
          <a:prstGeom prst="roundRect">
            <a:avLst>
              <a:gd name="adj" fmla="val 486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43400" y="3900487"/>
            <a:ext cx="3505200" cy="2347912"/>
          </a:xfrm>
          <a:prstGeom prst="roundRect">
            <a:avLst>
              <a:gd name="adj" fmla="val 486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077200" y="3900487"/>
            <a:ext cx="3505200" cy="2347912"/>
          </a:xfrm>
          <a:prstGeom prst="roundRect">
            <a:avLst>
              <a:gd name="adj" fmla="val 4868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7725" y="1790700"/>
            <a:ext cx="39754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B82F6"/>
                </a:solidFill>
                <a:latin typeface="Space Grotesk"/>
              </a:rPr>
              <a:t>Exploração e Estabilidade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2124075"/>
            <a:ext cx="3124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FrozenLake e CliffWalking confirmaram impactos distintos de políticas On e Off-Policy nos riscos assumidos.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525" y="1790700"/>
            <a:ext cx="39754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B82F6"/>
                </a:solidFill>
                <a:latin typeface="Space Grotesk"/>
              </a:rPr>
              <a:t>Eficiência Tabular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525" y="2124075"/>
            <a:ext cx="3124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No Taxi, recompensas máximas idênticas foram atingidas em ritmos expressivamente diferentes.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5325" y="1790700"/>
            <a:ext cx="38766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B82F6"/>
                </a:solidFill>
                <a:latin typeface="Space Grotesk"/>
              </a:rPr>
              <a:t>Representação de Estados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5325" y="2124075"/>
            <a:ext cx="3124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CartPole tabular evidenciou que refinar discretização eleva o teto, mas agrava a esparsidade.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4138612"/>
            <a:ext cx="39754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B82F6"/>
                </a:solidFill>
                <a:latin typeface="Space Grotesk"/>
              </a:rPr>
              <a:t>Variabilidade Neural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4471987"/>
            <a:ext cx="3124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CartPole profundo demonstrou extrema sensibilidade a sementes e parâmetros de exploração.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525" y="4138612"/>
            <a:ext cx="39754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B82F6"/>
                </a:solidFill>
                <a:latin typeface="Space Grotesk"/>
              </a:rPr>
              <a:t>Auxílio Externo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525" y="4471987"/>
            <a:ext cx="3124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MountainCar revelou o peso determinante de adicionar demonstrações prévias ao Replay Buffer.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4138612"/>
            <a:ext cx="38766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D4ED8"/>
                </a:solidFill>
                <a:latin typeface="Space Grotesk"/>
              </a:rPr>
              <a:t>Orçamento Visual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5325" y="4471987"/>
            <a:ext cx="3124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1E3A8A"/>
                </a:solidFill>
                <a:latin typeface="Inter"/>
              </a:rPr>
              <a:t>Pong: Treinamento prolongado possibilitou políticas eficazes, mas expôs oscilações expressivas e diferenças claras entre DQN e DDQN.</a:t>
            </a: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B5983461-495B-989D-D925-EBDF18597266}"/>
              </a:ext>
            </a:extLst>
          </p:cNvPr>
          <p:cNvSpPr txBox="1"/>
          <p:nvPr/>
        </p:nvSpPr>
        <p:spPr>
          <a:xfrm>
            <a:off x="609600" y="457200"/>
            <a:ext cx="115824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0F172A"/>
                </a:solidFill>
                <a:latin typeface="Inter"/>
              </a:rPr>
              <a:t>O que </a:t>
            </a:r>
            <a:r>
              <a:rPr sz="3000" b="1" i="0" u="none" dirty="0" err="1">
                <a:solidFill>
                  <a:srgbClr val="0F172A"/>
                </a:solidFill>
                <a:latin typeface="Inter"/>
              </a:rPr>
              <a:t>os</a:t>
            </a:r>
            <a:r>
              <a:rPr sz="3000" b="1" i="0" u="none" dirty="0">
                <a:solidFill>
                  <a:srgbClr val="0F172A"/>
                </a:solidFill>
                <a:latin typeface="Inter"/>
              </a:rPr>
              <a:t> </a:t>
            </a:r>
            <a:r>
              <a:rPr sz="3000" b="1" i="0" u="none" dirty="0" err="1">
                <a:solidFill>
                  <a:srgbClr val="0F172A"/>
                </a:solidFill>
                <a:latin typeface="Inter"/>
              </a:rPr>
              <a:t>experimentos</a:t>
            </a:r>
            <a:r>
              <a:rPr sz="3000" b="1" i="0" u="none" dirty="0">
                <a:solidFill>
                  <a:srgbClr val="0F172A"/>
                </a:solidFill>
                <a:latin typeface="Inter"/>
              </a:rPr>
              <a:t> </a:t>
            </a:r>
            <a:r>
              <a:rPr sz="3000" b="1" i="0" u="none" dirty="0" err="1">
                <a:solidFill>
                  <a:srgbClr val="0F172A"/>
                </a:solidFill>
                <a:latin typeface="Inter"/>
              </a:rPr>
              <a:t>demonstraram</a:t>
            </a:r>
            <a:r>
              <a:rPr sz="3000" b="1" i="0" u="none" dirty="0">
                <a:solidFill>
                  <a:srgbClr val="0F172A"/>
                </a:solidFill>
                <a:latin typeface="Inter"/>
              </a:rPr>
              <a:t>?</a:t>
            </a: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DEBFEE62-EC62-1FC0-98C8-D8DA2EFC1078}"/>
              </a:ext>
            </a:extLst>
          </p:cNvPr>
          <p:cNvSpPr txBox="1"/>
          <p:nvPr/>
        </p:nvSpPr>
        <p:spPr>
          <a:xfrm>
            <a:off x="609600" y="1038225"/>
            <a:ext cx="115824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 dirty="0" err="1">
                <a:solidFill>
                  <a:srgbClr val="64748B"/>
                </a:solidFill>
                <a:latin typeface="Inter"/>
              </a:rPr>
              <a:t>Desempenho</a:t>
            </a:r>
            <a:r>
              <a:rPr sz="1650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Inter"/>
              </a:rPr>
              <a:t>atrelado</a:t>
            </a:r>
            <a:r>
              <a:rPr sz="1650" b="0" i="0" u="none" dirty="0">
                <a:solidFill>
                  <a:srgbClr val="64748B"/>
                </a:solidFill>
                <a:latin typeface="Inter"/>
              </a:rPr>
              <a:t> a </a:t>
            </a:r>
            <a:r>
              <a:rPr sz="1650" b="0" i="0" u="none" dirty="0" err="1">
                <a:solidFill>
                  <a:srgbClr val="64748B"/>
                </a:solidFill>
                <a:latin typeface="Inter"/>
              </a:rPr>
              <a:t>exploração</a:t>
            </a:r>
            <a:r>
              <a:rPr sz="1650" b="0" i="0" u="none" dirty="0">
                <a:solidFill>
                  <a:srgbClr val="64748B"/>
                </a:solidFill>
                <a:latin typeface="Inter"/>
              </a:rPr>
              <a:t>, </a:t>
            </a:r>
            <a:r>
              <a:rPr sz="1650" b="0" i="0" u="none" dirty="0" err="1">
                <a:solidFill>
                  <a:srgbClr val="64748B"/>
                </a:solidFill>
                <a:latin typeface="Inter"/>
              </a:rPr>
              <a:t>recompensas</a:t>
            </a:r>
            <a:r>
              <a:rPr sz="1650" b="0" i="0" u="none" dirty="0">
                <a:solidFill>
                  <a:srgbClr val="64748B"/>
                </a:solidFill>
                <a:latin typeface="Inter"/>
              </a:rPr>
              <a:t> e </a:t>
            </a:r>
            <a:r>
              <a:rPr sz="1650" b="0" i="0" u="none" dirty="0" err="1">
                <a:solidFill>
                  <a:srgbClr val="64748B"/>
                </a:solidFill>
                <a:latin typeface="Inter"/>
              </a:rPr>
              <a:t>representação</a:t>
            </a:r>
            <a:r>
              <a:rPr sz="1650" b="0" i="0" u="none" dirty="0">
                <a:solidFill>
                  <a:srgbClr val="64748B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58812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59003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459194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568946"/>
            <a:ext cx="11430000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F8FAFC"/>
                </a:solidFill>
                <a:latin typeface="Inter"/>
              </a:rPr>
              <a:t>Principais Conclusões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125" y="2588121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8FAFC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7800" y="2645271"/>
            <a:ext cx="10077450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CBD5E1"/>
                </a:solidFill>
                <a:latin typeface="Inter"/>
              </a:rPr>
              <a:t>Aplicações práticas consolidaram o entendimento teórico dos métodos tabulares e profundos.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" y="3590032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8FAFC"/>
                </a:solidFill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3647182"/>
            <a:ext cx="10077450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CBD5E1"/>
                </a:solidFill>
                <a:latin typeface="Inter"/>
              </a:rPr>
              <a:t>Ausência de superioridade uniforme; a arquitetura ótima variou conforme exploração e representação.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4591942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8FAFC"/>
                </a:solidFill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7800" y="4649092"/>
            <a:ext cx="10077450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CBD5E1"/>
                </a:solidFill>
                <a:latin typeface="Inter"/>
              </a:rPr>
              <a:t>Estabilidade no treino, variabilidade entre sementes e qualidade das experiências balizam o desempenho.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FF2FA4-6021-E526-3988-0E3F9F3E4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618CF8C-9FA9-8D96-0353-B86D4243D2F5}"/>
              </a:ext>
            </a:extLst>
          </p:cNvPr>
          <p:cNvSpPr txBox="1"/>
          <p:nvPr/>
        </p:nvSpPr>
        <p:spPr>
          <a:xfrm>
            <a:off x="5029201" y="3045321"/>
            <a:ext cx="2133597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pt-BR" sz="3600" b="1" dirty="0">
                <a:solidFill>
                  <a:srgbClr val="F8FAFC"/>
                </a:solidFill>
                <a:latin typeface="Inter"/>
              </a:rPr>
              <a:t>OBRIGADO</a:t>
            </a:r>
            <a:endParaRPr sz="3600" b="1" i="0" u="none" dirty="0">
              <a:solidFill>
                <a:srgbClr val="F8FAFC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62139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19c027e-33b7-45fc-a572-8ffa5d09ec36}" enabled="1" method="Standard" siteId="{031a09bc-a2bf-44df-888e-4e09355b7a24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797</Words>
  <Application>Microsoft Office PowerPoint</Application>
  <PresentationFormat>Widescreen</PresentationFormat>
  <Paragraphs>139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1" baseType="lpstr">
      <vt:lpstr>Space Grotesk</vt:lpstr>
      <vt:lpstr>Arial</vt:lpstr>
      <vt:lpstr>Inter</vt:lpstr>
      <vt:lpstr>Calibri</vt:lpstr>
      <vt:lpstr>Aptos</vt:lpstr>
      <vt:lpstr>monospace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PEREIRA DE ALEXANDRIA SOARES, RAFAEL</cp:lastModifiedBy>
  <cp:revision>5</cp:revision>
  <dcterms:created xsi:type="dcterms:W3CDTF">2013-01-27T09:14:16Z</dcterms:created>
  <dcterms:modified xsi:type="dcterms:W3CDTF">2026-10-17T20:01:36Z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Internal Use</vt:lpwstr>
  </property>
</Properties>
</file>