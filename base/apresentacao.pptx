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embeddedFontLst>
    <p:embeddedFont>
      <p:font typeface="Plus Jakarta Sans"/>
      <p:italic r:id="rId14"/>
      <p:boldItalic r:id="rId15"/>
    </p:embeddedFont>
    <p:embeddedFont>
      <p:font typeface="Space Grotesk"/>
      <p:bold r:id="rId1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afael Soares" initials="RS" lastIdx="2" clrIdx="0">
    <p:extLst>
      <p:ext uri="{19B8F6BF-5375-455C-9EA6-DF929625EA0E}">
        <p15:presenceInfo xmlns:p15="http://schemas.microsoft.com/office/powerpoint/2012/main" userId="1c9f261cc753fb68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72" y="7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F30DCC-4BB4-40DB-A153-CA58D993492E}" type="datetimeFigureOut">
              <a:rPr lang="pt-BR" smtClean="0"/>
              <a:t>08/10/2026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3CEDD6-ADBC-4472-B08F-9059F6345B0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87059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3CEDD6-ADBC-4472-B08F-9059F6345B0F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21900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3CEDD6-ADBC-4472-B08F-9059F6345B0F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089846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3CEDD6-ADBC-4472-B08F-9059F6345B0F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986776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596580"/>
            <a:ext cx="10972800" cy="1581150"/>
          </a:xfrm>
          <a:prstGeom prst="roundRect">
            <a:avLst>
              <a:gd name="adj" fmla="val 7228"/>
            </a:avLst>
          </a:prstGeom>
          <a:solidFill>
            <a:srgbClr val="1A2436"/>
          </a:solidFill>
          <a:ln w="9525">
            <a:solidFill>
              <a:srgbClr val="272E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1" y="609600"/>
            <a:ext cx="1098550" cy="304800"/>
          </a:xfrm>
          <a:prstGeom prst="roundRect">
            <a:avLst>
              <a:gd name="adj" fmla="val 18750"/>
            </a:avLst>
          </a:prstGeom>
          <a:solidFill>
            <a:srgbClr val="132651"/>
          </a:solidFill>
          <a:ln w="9525">
            <a:solidFill>
              <a:srgbClr val="2742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9600" y="1219200"/>
            <a:ext cx="10101262" cy="11391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sz="3900" b="1" i="0" u="none" dirty="0">
                <a:solidFill>
                  <a:srgbClr val="FFFFFF"/>
                </a:solidFill>
                <a:latin typeface="Space Grotesk"/>
              </a:rPr>
              <a:t>Reinforcement Learning </a:t>
            </a:r>
            <a:r>
              <a:rPr sz="3900" b="1" i="0" u="none" dirty="0" err="1">
                <a:solidFill>
                  <a:srgbClr val="FFFFFF"/>
                </a:solidFill>
                <a:latin typeface="Space Grotesk"/>
              </a:rPr>
              <a:t>em</a:t>
            </a:r>
            <a:r>
              <a:rPr sz="3900" b="1" i="0" u="none" dirty="0">
                <a:solidFill>
                  <a:srgbClr val="FFFFFF"/>
                </a:solidFill>
                <a:latin typeface="Space Grotesk"/>
              </a:rPr>
              <a:t> </a:t>
            </a:r>
            <a:r>
              <a:rPr sz="3900" b="1" i="0" u="none" dirty="0" err="1">
                <a:solidFill>
                  <a:srgbClr val="FFFFFF"/>
                </a:solidFill>
                <a:latin typeface="Space Grotesk"/>
              </a:rPr>
              <a:t>Aplicações</a:t>
            </a:r>
            <a:r>
              <a:rPr sz="3900" b="1" i="0" u="none" dirty="0">
                <a:solidFill>
                  <a:srgbClr val="FFFFFF"/>
                </a:solidFill>
                <a:latin typeface="Space Grotesk"/>
              </a:rPr>
              <a:t> </a:t>
            </a:r>
            <a:r>
              <a:rPr sz="3900" b="1" i="0" u="none" dirty="0" err="1">
                <a:solidFill>
                  <a:srgbClr val="FFFFFF"/>
                </a:solidFill>
                <a:latin typeface="Space Grotesk"/>
              </a:rPr>
              <a:t>Financeiras</a:t>
            </a:r>
            <a:endParaRPr sz="3900" b="1" i="0" u="none" dirty="0">
              <a:solidFill>
                <a:srgbClr val="FFFFFF"/>
              </a:solidFill>
              <a:latin typeface="Space Grotesk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9600" y="2529780"/>
            <a:ext cx="10715625" cy="319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1800" b="0" i="0" u="none">
                <a:solidFill>
                  <a:srgbClr val="94A3B8"/>
                </a:solidFill>
                <a:latin typeface="Plus Jakarta Sans"/>
              </a:rPr>
              <a:t>Uma revisão crítica de métodos, resultados e desafios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2951" y="666750"/>
            <a:ext cx="90170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50" b="1" i="0" u="none" dirty="0" err="1">
                <a:solidFill>
                  <a:srgbClr val="60A5FA"/>
                </a:solidFill>
                <a:latin typeface="Plus Jakarta Sans"/>
              </a:rPr>
              <a:t>PPgTI</a:t>
            </a:r>
            <a:r>
              <a:rPr lang="pt-BR" sz="1050" b="1" i="0" u="none" dirty="0">
                <a:solidFill>
                  <a:srgbClr val="60A5FA"/>
                </a:solidFill>
                <a:latin typeface="Plus Jakarta Sans"/>
              </a:rPr>
              <a:t> - UFRN</a:t>
            </a:r>
            <a:endParaRPr sz="1050" b="1" i="0" u="none" dirty="0">
              <a:solidFill>
                <a:srgbClr val="60A5FA"/>
              </a:solidFill>
              <a:latin typeface="Plus Jakarta San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85825" y="3872805"/>
            <a:ext cx="842962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38BDF8"/>
                </a:solidFill>
                <a:latin typeface="Plus Jakarta Sans"/>
              </a:rPr>
              <a:t>REFERÊNCIA ACADÊMICA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825" y="4101405"/>
            <a:ext cx="842962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FFFFFF"/>
                </a:solidFill>
                <a:latin typeface="Plus Jakarta Sans"/>
              </a:rPr>
              <a:t>“A Review of Reinforcement Learning in Financial Applications”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5825" y="4406205"/>
            <a:ext cx="842962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CBD5E1"/>
                </a:solidFill>
                <a:latin typeface="Plus Jakarta Sans"/>
              </a:rPr>
              <a:t>Autores: Yahui Bai, Yuhe Gao, Runzhe Wan, Sheng Zhang, Rui Song (2025)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825" y="4720530"/>
            <a:ext cx="842962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1" u="none">
                <a:solidFill>
                  <a:srgbClr val="94A3B8"/>
                </a:solidFill>
                <a:latin typeface="Plus Jakarta Sans"/>
              </a:rPr>
              <a:t>Annual Review of Statistics and Its Application</a:t>
            </a:r>
            <a:r>
              <a:rPr sz="1125" b="0" i="0" u="none">
                <a:solidFill>
                  <a:srgbClr val="94A3B8"/>
                </a:solidFill>
                <a:latin typeface="Plus Jakarta Sans"/>
              </a:rPr>
              <a:t>, vol. 12, pp. 209–232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0550" y="4134742"/>
            <a:ext cx="386953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Plus Jakarta Sans"/>
              </a:rPr>
              <a:t>Aprendizado por Reforço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0549" y="4461072"/>
            <a:ext cx="1891543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 dirty="0" err="1">
                <a:solidFill>
                  <a:srgbClr val="94A3B8"/>
                </a:solidFill>
                <a:latin typeface="Plus Jakarta Sans"/>
              </a:rPr>
              <a:t>Apresentado</a:t>
            </a:r>
            <a:r>
              <a:rPr lang="pt-BR" sz="1125" b="0" i="0" u="none" dirty="0">
                <a:solidFill>
                  <a:srgbClr val="94A3B8"/>
                </a:solidFill>
                <a:latin typeface="Plus Jakarta Sans"/>
              </a:rPr>
              <a:t> por</a:t>
            </a:r>
            <a:r>
              <a:rPr sz="1125" b="0" i="0" u="none" dirty="0">
                <a:solidFill>
                  <a:srgbClr val="94A3B8"/>
                </a:solidFill>
                <a:latin typeface="Plus Jakarta Sans"/>
              </a:rPr>
              <a:t>: </a:t>
            </a:r>
            <a:r>
              <a:rPr lang="pt-BR" sz="1125" b="1" dirty="0">
                <a:solidFill>
                  <a:srgbClr val="FFFFFF"/>
                </a:solidFill>
                <a:latin typeface="Plus Jakarta Sans"/>
              </a:rPr>
              <a:t>Rafael Soares</a:t>
            </a:r>
            <a:endParaRPr sz="1125" b="1" i="0" u="none" dirty="0">
              <a:solidFill>
                <a:srgbClr val="FFFFFF"/>
              </a:solidFill>
              <a:latin typeface="Plus Jakarta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6067425"/>
            <a:ext cx="10972800" cy="3333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6067425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1347787"/>
            <a:ext cx="5372100" cy="1314450"/>
          </a:xfrm>
          <a:prstGeom prst="roundRect">
            <a:avLst>
              <a:gd name="adj" fmla="val 869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10300" y="1347787"/>
            <a:ext cx="5372100" cy="1314450"/>
          </a:xfrm>
          <a:prstGeom prst="roundRect">
            <a:avLst>
              <a:gd name="adj" fmla="val 869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09600" y="2890837"/>
            <a:ext cx="3543300" cy="1381125"/>
          </a:xfrm>
          <a:prstGeom prst="roundRect">
            <a:avLst>
              <a:gd name="adj" fmla="val 827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324350" y="2890837"/>
            <a:ext cx="3543300" cy="1381125"/>
          </a:xfrm>
          <a:prstGeom prst="roundRect">
            <a:avLst>
              <a:gd name="adj" fmla="val 827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039100" y="2890837"/>
            <a:ext cx="3543300" cy="1381125"/>
          </a:xfrm>
          <a:prstGeom prst="roundRect">
            <a:avLst>
              <a:gd name="adj" fmla="val 827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09600" y="2652712"/>
            <a:ext cx="53721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9600" y="1347787"/>
            <a:ext cx="53721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09600" y="1347787"/>
            <a:ext cx="47625" cy="131445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972175" y="1347787"/>
            <a:ext cx="9525" cy="13144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0300" y="2652712"/>
            <a:ext cx="53721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10300" y="1347787"/>
            <a:ext cx="53721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0300" y="1347787"/>
            <a:ext cx="47625" cy="13144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1572875" y="1347787"/>
            <a:ext cx="9525" cy="13144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825" y="1600200"/>
            <a:ext cx="209550" cy="2095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6525" y="1600200"/>
            <a:ext cx="209550" cy="2095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09600" y="457200"/>
            <a:ext cx="115824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2563EB"/>
                </a:solidFill>
                <a:latin typeface="Plus Jakarta Sans"/>
              </a:rPr>
              <a:t>MOTIVAÇÃO &amp; ESCOPO DO SURVEY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" y="714375"/>
            <a:ext cx="11582400" cy="4048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sz="2550" b="1" i="0" u="none">
                <a:solidFill>
                  <a:srgbClr val="0F172A"/>
                </a:solidFill>
                <a:latin typeface="Space Grotesk"/>
              </a:rPr>
              <a:t>Por que Aprendizado por Reforço em Finanças?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5825" y="1938337"/>
            <a:ext cx="49530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475569"/>
                </a:solidFill>
                <a:latin typeface="Plus Jakarta Sans"/>
              </a:rPr>
              <a:t>Foco estático:</a:t>
            </a:r>
            <a:r>
              <a:rPr sz="1275" b="0" i="0" u="none">
                <a:solidFill>
                  <a:srgbClr val="475569"/>
                </a:solidFill>
                <a:latin typeface="Plus Jakarta Sans"/>
              </a:rPr>
              <a:t> Minimiza erro de previsão ponto a ponto sem considerar fricção, impacto de ordens ou custos operacionais.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86525" y="1938337"/>
            <a:ext cx="49530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Plus Jakarta Sans"/>
              </a:rPr>
              <a:t>Foco dinâmico:</a:t>
            </a:r>
            <a:r>
              <a:rPr sz="1275" b="0" i="0" u="none">
                <a:solidFill>
                  <a:srgbClr val="334155"/>
                </a:solidFill>
                <a:latin typeface="Plus Jakarta Sans"/>
              </a:rPr>
              <a:t> Aprende políticas </a:t>
            </a:r>
            <a:r>
              <a:rPr sz="1275" b="0" i="1" u="none">
                <a:solidFill>
                  <a:srgbClr val="334155"/>
                </a:solidFill>
                <a:latin typeface="Plus Jakarta Sans"/>
              </a:rPr>
              <a:t>π(a|s)</a:t>
            </a:r>
            <a:r>
              <a:rPr sz="1275" b="0" i="0" u="none">
                <a:solidFill>
                  <a:srgbClr val="334155"/>
                </a:solidFill>
                <a:latin typeface="Plus Jakarta Sans"/>
              </a:rPr>
              <a:t> otimizando retorno acumulado e gerindo riscos ao longo do tempo.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7725" y="3128962"/>
            <a:ext cx="3833812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2563EB"/>
                </a:solidFill>
                <a:latin typeface="Plus Jakarta Sans"/>
              </a:rPr>
              <a:t>CONTRIBUIÇÃO 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7725" y="3367087"/>
            <a:ext cx="4025503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 dirty="0" err="1">
                <a:solidFill>
                  <a:srgbClr val="0F172A"/>
                </a:solidFill>
                <a:latin typeface="Plus Jakarta Sans"/>
              </a:rPr>
              <a:t>Taxonomia</a:t>
            </a:r>
            <a:r>
              <a:rPr sz="1275" b="1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sz="1275" b="1" i="0" u="none" dirty="0" err="1">
                <a:solidFill>
                  <a:srgbClr val="0F172A"/>
                </a:solidFill>
                <a:latin typeface="Plus Jakarta Sans"/>
              </a:rPr>
              <a:t>Unificada</a:t>
            </a:r>
            <a:endParaRPr sz="1275" b="1" i="0" u="none" dirty="0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47725" y="3633787"/>
            <a:ext cx="31623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 dirty="0" err="1">
                <a:solidFill>
                  <a:srgbClr val="64748B"/>
                </a:solidFill>
                <a:latin typeface="Plus Jakarta Sans"/>
              </a:rPr>
              <a:t>Mapeamento</a:t>
            </a:r>
            <a:r>
              <a:rPr sz="1125" b="0" i="0" u="none" dirty="0">
                <a:solidFill>
                  <a:srgbClr val="64748B"/>
                </a:solidFill>
                <a:latin typeface="Plus Jakarta Sans"/>
              </a:rPr>
              <a:t> de MDPs </a:t>
            </a:r>
            <a:r>
              <a:rPr sz="1125" b="0" i="0" u="none" dirty="0" err="1">
                <a:solidFill>
                  <a:srgbClr val="64748B"/>
                </a:solidFill>
                <a:latin typeface="Plus Jakarta Sans"/>
              </a:rPr>
              <a:t>em</a:t>
            </a:r>
            <a:r>
              <a:rPr sz="1125" b="0" i="0" u="none" dirty="0">
                <a:solidFill>
                  <a:srgbClr val="64748B"/>
                </a:solidFill>
                <a:latin typeface="Plus Jakarta Sans"/>
              </a:rPr>
              <a:t> Market Making, Portfolio e Optimal Execution.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2475" y="3128962"/>
            <a:ext cx="3833812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2563EB"/>
                </a:solidFill>
                <a:latin typeface="Plus Jakarta Sans"/>
              </a:rPr>
              <a:t>CONTRIBUIÇÃO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62475" y="3367087"/>
            <a:ext cx="4025503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 dirty="0">
                <a:solidFill>
                  <a:srgbClr val="0F172A"/>
                </a:solidFill>
                <a:latin typeface="Plus Jakarta Sans"/>
              </a:rPr>
              <a:t>Meta-</a:t>
            </a:r>
            <a:r>
              <a:rPr sz="1275" b="1" i="0" u="none" dirty="0" err="1">
                <a:solidFill>
                  <a:srgbClr val="0F172A"/>
                </a:solidFill>
                <a:latin typeface="Plus Jakarta Sans"/>
              </a:rPr>
              <a:t>Análise</a:t>
            </a:r>
            <a:r>
              <a:rPr sz="1275" b="1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sz="1275" b="1" i="0" u="none" dirty="0" err="1">
                <a:solidFill>
                  <a:srgbClr val="0F172A"/>
                </a:solidFill>
                <a:latin typeface="Plus Jakarta Sans"/>
              </a:rPr>
              <a:t>Quantitativa</a:t>
            </a:r>
            <a:endParaRPr sz="1275" b="1" i="0" u="none" dirty="0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562475" y="3633787"/>
            <a:ext cx="31623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 dirty="0" err="1">
                <a:solidFill>
                  <a:srgbClr val="64748B"/>
                </a:solidFill>
                <a:latin typeface="Plus Jakarta Sans"/>
              </a:rPr>
              <a:t>Avaliação</a:t>
            </a:r>
            <a:r>
              <a:rPr sz="1125" b="0" i="0" u="none" dirty="0">
                <a:solidFill>
                  <a:srgbClr val="64748B"/>
                </a:solidFill>
                <a:latin typeface="Plus Jakarta Sans"/>
              </a:rPr>
              <a:t> via </a:t>
            </a:r>
            <a:r>
              <a:rPr sz="1125" b="0" i="0" u="none" dirty="0" err="1">
                <a:solidFill>
                  <a:srgbClr val="64748B"/>
                </a:solidFill>
                <a:latin typeface="Plus Jakarta Sans"/>
              </a:rPr>
              <a:t>métrica</a:t>
            </a:r>
            <a:r>
              <a:rPr sz="1125" b="0" i="0" u="none" dirty="0">
                <a:solidFill>
                  <a:srgbClr val="64748B"/>
                </a:solidFill>
                <a:latin typeface="Plus Jakarta Sans"/>
              </a:rPr>
              <a:t> original </a:t>
            </a:r>
            <a:r>
              <a:rPr sz="1125" b="0" i="1" u="none" dirty="0">
                <a:solidFill>
                  <a:srgbClr val="64748B"/>
                </a:solidFill>
                <a:latin typeface="Plus Jakarta Sans"/>
              </a:rPr>
              <a:t>RL Premium</a:t>
            </a:r>
            <a:r>
              <a:rPr sz="1125" b="0" i="0" u="none" dirty="0">
                <a:solidFill>
                  <a:srgbClr val="64748B"/>
                </a:solidFill>
                <a:latin typeface="Plus Jakarta Sans"/>
              </a:rPr>
              <a:t> </a:t>
            </a:r>
            <a:r>
              <a:rPr sz="1125" b="0" i="0" u="none" dirty="0" err="1">
                <a:solidFill>
                  <a:srgbClr val="64748B"/>
                </a:solidFill>
                <a:latin typeface="Plus Jakarta Sans"/>
              </a:rPr>
              <a:t>sobre</a:t>
            </a:r>
            <a:r>
              <a:rPr sz="1125" b="0" i="0" u="none" dirty="0">
                <a:solidFill>
                  <a:srgbClr val="64748B"/>
                </a:solidFill>
                <a:latin typeface="Plus Jakarta Sans"/>
              </a:rPr>
              <a:t> a </a:t>
            </a:r>
            <a:r>
              <a:rPr sz="1125" b="0" i="0" u="none" dirty="0" err="1">
                <a:solidFill>
                  <a:srgbClr val="64748B"/>
                </a:solidFill>
                <a:latin typeface="Plus Jakarta Sans"/>
              </a:rPr>
              <a:t>literatura</a:t>
            </a:r>
            <a:r>
              <a:rPr sz="1125" b="0" i="0" u="none" dirty="0">
                <a:solidFill>
                  <a:srgbClr val="64748B"/>
                </a:solidFill>
                <a:latin typeface="Plus Jakarta Sans"/>
              </a:rPr>
              <a:t>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7225" y="3128962"/>
            <a:ext cx="3833812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2563EB"/>
                </a:solidFill>
                <a:latin typeface="Plus Jakarta Sans"/>
              </a:rPr>
              <a:t>CONTRIBUIÇÃO 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7225" y="3367087"/>
            <a:ext cx="3914775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Plus Jakarta Sans"/>
              </a:rPr>
              <a:t>Diagnóstico de Desafios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7225" y="3633787"/>
            <a:ext cx="31623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 dirty="0" err="1">
                <a:solidFill>
                  <a:srgbClr val="64748B"/>
                </a:solidFill>
                <a:latin typeface="Plus Jakarta Sans"/>
              </a:rPr>
              <a:t>Análise</a:t>
            </a:r>
            <a:r>
              <a:rPr sz="1125" b="0" i="0" u="none" dirty="0">
                <a:solidFill>
                  <a:srgbClr val="64748B"/>
                </a:solidFill>
                <a:latin typeface="Plus Jakarta Sans"/>
              </a:rPr>
              <a:t> de </a:t>
            </a:r>
            <a:r>
              <a:rPr sz="1125" b="0" i="0" u="none" dirty="0" err="1">
                <a:solidFill>
                  <a:srgbClr val="64748B"/>
                </a:solidFill>
                <a:latin typeface="Plus Jakarta Sans"/>
              </a:rPr>
              <a:t>não-estacionariedade</a:t>
            </a:r>
            <a:r>
              <a:rPr sz="1125" b="0" i="0" u="none" dirty="0">
                <a:solidFill>
                  <a:srgbClr val="64748B"/>
                </a:solidFill>
                <a:latin typeface="Plus Jakarta Sans"/>
              </a:rPr>
              <a:t>, </a:t>
            </a:r>
            <a:r>
              <a:rPr sz="1125" b="0" i="0" u="none" dirty="0" err="1">
                <a:solidFill>
                  <a:srgbClr val="64748B"/>
                </a:solidFill>
                <a:latin typeface="Plus Jakarta Sans"/>
              </a:rPr>
              <a:t>validação</a:t>
            </a:r>
            <a:r>
              <a:rPr sz="1125" b="0" i="0" u="none" dirty="0">
                <a:solidFill>
                  <a:srgbClr val="64748B"/>
                </a:solidFill>
                <a:latin typeface="Plus Jakarta Sans"/>
              </a:rPr>
              <a:t> e </a:t>
            </a:r>
            <a:r>
              <a:rPr sz="1125" b="0" i="0" u="none" dirty="0" err="1">
                <a:solidFill>
                  <a:srgbClr val="64748B"/>
                </a:solidFill>
                <a:latin typeface="Plus Jakarta Sans"/>
              </a:rPr>
              <a:t>diretrizes</a:t>
            </a:r>
            <a:r>
              <a:rPr sz="1125" b="0" i="0" u="none" dirty="0">
                <a:solidFill>
                  <a:srgbClr val="64748B"/>
                </a:solidFill>
                <a:latin typeface="Plus Jakarta Sans"/>
              </a:rPr>
              <a:t> </a:t>
            </a:r>
            <a:r>
              <a:rPr sz="1125" b="0" i="0" u="none" dirty="0" err="1">
                <a:solidFill>
                  <a:srgbClr val="64748B"/>
                </a:solidFill>
                <a:latin typeface="Plus Jakarta Sans"/>
              </a:rPr>
              <a:t>futuras</a:t>
            </a:r>
            <a:r>
              <a:rPr sz="1125" b="0" i="0" u="none" dirty="0">
                <a:solidFill>
                  <a:srgbClr val="64748B"/>
                </a:solidFill>
                <a:latin typeface="Plus Jakarta Sans"/>
              </a:rPr>
              <a:t>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09675" y="1585912"/>
            <a:ext cx="4425553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334155"/>
                </a:solidFill>
                <a:latin typeface="Plus Jakarta Sans"/>
              </a:rPr>
              <a:t>Previsão de Preços (Supervisionado)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10375" y="1585912"/>
            <a:ext cx="4325540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Tomada Sequencial de Decisão (RL)</a:t>
            </a:r>
          </a:p>
        </p:txBody>
      </p:sp>
      <p:sp>
        <p:nvSpPr>
          <p:cNvPr id="37" name="TextBox 10">
            <a:extLst>
              <a:ext uri="{FF2B5EF4-FFF2-40B4-BE49-F238E27FC236}">
                <a16:creationId xmlns:a16="http://schemas.microsoft.com/office/drawing/2014/main" id="{01936BFA-CDCC-B1E2-6D66-42F5A2462D43}"/>
              </a:ext>
            </a:extLst>
          </p:cNvPr>
          <p:cNvSpPr txBox="1"/>
          <p:nvPr/>
        </p:nvSpPr>
        <p:spPr>
          <a:xfrm>
            <a:off x="609600" y="6229350"/>
            <a:ext cx="610745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 dirty="0">
                <a:solidFill>
                  <a:srgbClr val="64748B"/>
                </a:solidFill>
                <a:latin typeface="Plus Jakarta Sans"/>
              </a:rPr>
              <a:t>Slide </a:t>
            </a:r>
            <a:r>
              <a:rPr lang="pt-BR" sz="1050" b="0" i="0" u="none" dirty="0">
                <a:solidFill>
                  <a:srgbClr val="64748B"/>
                </a:solidFill>
                <a:latin typeface="Plus Jakarta Sans"/>
              </a:rPr>
              <a:t>2</a:t>
            </a:r>
            <a:r>
              <a:rPr sz="1050" b="0" i="0" u="none" dirty="0">
                <a:solidFill>
                  <a:srgbClr val="64748B"/>
                </a:solidFill>
                <a:latin typeface="Plus Jakarta Sans"/>
              </a:rPr>
              <a:t>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6067425"/>
            <a:ext cx="10972800" cy="3333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1347787"/>
            <a:ext cx="10972800" cy="1186755"/>
          </a:xfrm>
          <a:prstGeom prst="roundRect">
            <a:avLst>
              <a:gd name="adj" fmla="val 9631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6067425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2763142"/>
            <a:ext cx="3543300" cy="2375148"/>
          </a:xfrm>
          <a:prstGeom prst="roundRect">
            <a:avLst>
              <a:gd name="adj" fmla="val 481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324350" y="2763142"/>
            <a:ext cx="3543300" cy="2375148"/>
          </a:xfrm>
          <a:prstGeom prst="roundRect">
            <a:avLst>
              <a:gd name="adj" fmla="val 481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039100" y="2763142"/>
            <a:ext cx="3543300" cy="2375148"/>
          </a:xfrm>
          <a:prstGeom prst="roundRect">
            <a:avLst>
              <a:gd name="adj" fmla="val 481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28675" y="1566862"/>
            <a:ext cx="2476500" cy="748605"/>
          </a:xfrm>
          <a:prstGeom prst="roundRect">
            <a:avLst>
              <a:gd name="adj" fmla="val 12723"/>
            </a:avLst>
          </a:prstGeom>
          <a:solidFill>
            <a:srgbClr val="FFFFFF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886825" y="1583977"/>
            <a:ext cx="2476500" cy="71437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495675" y="1926877"/>
            <a:ext cx="5200650" cy="2857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47725" y="3001267"/>
            <a:ext cx="1109662" cy="321915"/>
          </a:xfrm>
          <a:prstGeom prst="roundRect">
            <a:avLst>
              <a:gd name="adj" fmla="val 17753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562475" y="3001267"/>
            <a:ext cx="985837" cy="321915"/>
          </a:xfrm>
          <a:prstGeom prst="roundRect">
            <a:avLst>
              <a:gd name="adj" fmla="val 17753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277225" y="3001267"/>
            <a:ext cx="1538287" cy="321915"/>
          </a:xfrm>
          <a:prstGeom prst="roundRect">
            <a:avLst>
              <a:gd name="adj" fmla="val 17753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09600" y="457200"/>
            <a:ext cx="115824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2563EB"/>
                </a:solidFill>
                <a:latin typeface="Plus Jakarta Sans"/>
              </a:rPr>
              <a:t>FUNDAMENTAÇÃO TEÓRICA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714375"/>
            <a:ext cx="11582400" cy="4048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sz="2550" b="1" i="0" u="none">
                <a:solidFill>
                  <a:srgbClr val="0F172A"/>
                </a:solidFill>
                <a:latin typeface="Space Grotesk"/>
              </a:rPr>
              <a:t>Como Modelar Decisões Financeiras como MDPs?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675" y="1738312"/>
            <a:ext cx="24765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2563EB"/>
                </a:solidFill>
                <a:latin typeface="Plus Jakarta Sans"/>
              </a:rPr>
              <a:t>AGENTE RL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675" y="1890712"/>
            <a:ext cx="2476500" cy="2533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Plus Jakarta Sans"/>
              </a:rPr>
              <a:t>Política </a:t>
            </a:r>
            <a:r>
              <a:rPr sz="1350" b="1" i="1" u="none">
                <a:solidFill>
                  <a:srgbClr val="0F172A"/>
                </a:solidFill>
                <a:latin typeface="Plus Jakarta Sans"/>
              </a:rPr>
              <a:t>π(a</a:t>
            </a:r>
            <a:r>
              <a:rPr sz="1125" b="1" i="1" u="none">
                <a:solidFill>
                  <a:srgbClr val="0F172A"/>
                </a:solidFill>
                <a:latin typeface="Plus Jakarta Sans"/>
              </a:rPr>
              <a:t>t</a:t>
            </a:r>
            <a:r>
              <a:rPr sz="1350" b="1" i="1" u="none">
                <a:solidFill>
                  <a:srgbClr val="0F172A"/>
                </a:solidFill>
                <a:latin typeface="Plus Jakarta Sans"/>
              </a:rPr>
              <a:t>|s</a:t>
            </a:r>
            <a:r>
              <a:rPr sz="1125" b="1" i="1" u="none">
                <a:solidFill>
                  <a:srgbClr val="0F172A"/>
                </a:solidFill>
                <a:latin typeface="Plus Jakarta Sans"/>
              </a:rPr>
              <a:t>t</a:t>
            </a:r>
            <a:r>
              <a:rPr sz="1350" b="1" i="1" u="none">
                <a:solidFill>
                  <a:srgbClr val="0F172A"/>
                </a:solidFill>
                <a:latin typeface="Plus Jakarta Sans"/>
              </a:rPr>
              <a:t>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45593" y="1650652"/>
            <a:ext cx="6500812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059669"/>
                </a:solidFill>
                <a:latin typeface="Plus Jakarta Sans"/>
              </a:rPr>
              <a:t>Ação </a:t>
            </a:r>
            <a:r>
              <a:rPr sz="1125" b="1" i="1" u="none">
                <a:solidFill>
                  <a:srgbClr val="059669"/>
                </a:solidFill>
                <a:latin typeface="Plus Jakarta Sans"/>
              </a:rPr>
              <a:t>a</a:t>
            </a:r>
            <a:r>
              <a:rPr sz="937" b="1" i="1" u="none">
                <a:solidFill>
                  <a:srgbClr val="059669"/>
                </a:solidFill>
                <a:latin typeface="Plus Jakarta Sans"/>
              </a:rPr>
              <a:t>t</a:t>
            </a:r>
            <a:r>
              <a:rPr sz="1125" b="1" i="0" u="none">
                <a:solidFill>
                  <a:srgbClr val="059669"/>
                </a:solidFill>
                <a:latin typeface="Plus Jakarta Sans"/>
              </a:rPr>
              <a:t> 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45593" y="2012602"/>
            <a:ext cx="6500812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DC2626"/>
                </a:solidFill>
                <a:latin typeface="Plus Jakarta Sans"/>
              </a:rPr>
              <a:t>← Recompensa </a:t>
            </a:r>
            <a:r>
              <a:rPr sz="1125" b="1" i="1" u="none">
                <a:solidFill>
                  <a:srgbClr val="DC2626"/>
                </a:solidFill>
                <a:latin typeface="Plus Jakarta Sans"/>
              </a:rPr>
              <a:t>r</a:t>
            </a:r>
            <a:r>
              <a:rPr sz="937" b="1" i="1" u="none">
                <a:solidFill>
                  <a:srgbClr val="DC2626"/>
                </a:solidFill>
                <a:latin typeface="Plus Jakarta Sans"/>
              </a:rPr>
              <a:t>t</a:t>
            </a:r>
            <a:r>
              <a:rPr sz="1125" b="1" i="0" u="none">
                <a:solidFill>
                  <a:srgbClr val="DC2626"/>
                </a:solidFill>
                <a:latin typeface="Plus Jakarta Sans"/>
              </a:rPr>
              <a:t>, Próximo Estado </a:t>
            </a:r>
            <a:r>
              <a:rPr sz="1125" b="1" i="1" u="none">
                <a:solidFill>
                  <a:srgbClr val="DC2626"/>
                </a:solidFill>
                <a:latin typeface="Plus Jakarta Sans"/>
              </a:rPr>
              <a:t>s</a:t>
            </a:r>
            <a:r>
              <a:rPr sz="937" b="1" i="1" u="none">
                <a:solidFill>
                  <a:srgbClr val="DC2626"/>
                </a:solidFill>
                <a:latin typeface="Plus Jakarta Sans"/>
              </a:rPr>
              <a:t>t+1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86825" y="1755427"/>
            <a:ext cx="24765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64748B"/>
                </a:solidFill>
                <a:latin typeface="Plus Jakarta Sans"/>
              </a:rPr>
              <a:t>AMBIENTE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86825" y="1907827"/>
            <a:ext cx="24765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Plus Jakarta Sans"/>
              </a:rPr>
              <a:t>Mercado Financeiro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1075" y="3058417"/>
            <a:ext cx="938212" cy="2076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Plus Jakarta Sans"/>
              </a:rPr>
              <a:t>ESTADO (</a:t>
            </a:r>
            <a:r>
              <a:rPr sz="1050" b="1" i="1" u="none">
                <a:solidFill>
                  <a:srgbClr val="0F172A"/>
                </a:solidFill>
                <a:latin typeface="Plus Jakarta Sans"/>
              </a:rPr>
              <a:t>S</a:t>
            </a:r>
            <a:r>
              <a:rPr sz="875" b="1" i="1" u="none">
                <a:solidFill>
                  <a:srgbClr val="0F172A"/>
                </a:solidFill>
                <a:latin typeface="Plus Jakarta Sans"/>
              </a:rPr>
              <a:t>T</a:t>
            </a:r>
            <a:r>
              <a:rPr sz="1050" b="1" i="0" u="none">
                <a:solidFill>
                  <a:srgbClr val="0F172A"/>
                </a:solidFill>
                <a:latin typeface="Plus Jakarta Sans"/>
              </a:rPr>
              <a:t>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7737" y="3474465"/>
            <a:ext cx="8572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334155"/>
                </a:solidFill>
                <a:latin typeface="Plus Jakarta Sans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8225" y="3437483"/>
            <a:ext cx="2971800" cy="487560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334155"/>
                </a:solidFill>
                <a:latin typeface="Plus Jakarta Sans"/>
              </a:rPr>
              <a:t>Preços &amp; Retornos: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Histórico e volatilidade.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4881" y="3706743"/>
            <a:ext cx="8572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334155"/>
                </a:solidFill>
                <a:latin typeface="Plus Jakarta Sans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0606" y="3668762"/>
            <a:ext cx="3595687" cy="243780"/>
          </a:xfrm>
          <a:prstGeom prst="rect">
            <a:avLst/>
          </a:prstGeom>
          <a:noFill/>
        </p:spPr>
        <p:txBody>
          <a:bodyPr wrap="none" lIns="85725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 dirty="0" err="1">
                <a:solidFill>
                  <a:srgbClr val="334155"/>
                </a:solidFill>
                <a:latin typeface="Plus Jakarta Sans"/>
              </a:rPr>
              <a:t>Inventário</a:t>
            </a:r>
            <a:r>
              <a:rPr sz="1200" b="1" i="0" u="none" dirty="0">
                <a:solidFill>
                  <a:srgbClr val="334155"/>
                </a:solidFill>
                <a:latin typeface="Plus Jakarta Sans"/>
              </a:rPr>
              <a:t>:</a:t>
            </a:r>
            <a:r>
              <a:rPr sz="1200" b="0" i="0" u="none" dirty="0">
                <a:solidFill>
                  <a:srgbClr val="334155"/>
                </a:solidFill>
                <a:latin typeface="Plus Jakarta Sans"/>
              </a:rPr>
              <a:t> </a:t>
            </a:r>
            <a:r>
              <a:rPr sz="1200" b="0" i="0" u="none" dirty="0" err="1">
                <a:solidFill>
                  <a:srgbClr val="334155"/>
                </a:solidFill>
                <a:latin typeface="Plus Jakarta Sans"/>
              </a:rPr>
              <a:t>Posição</a:t>
            </a:r>
            <a:r>
              <a:rPr sz="1200" b="0" i="0" u="none" dirty="0">
                <a:solidFill>
                  <a:srgbClr val="334155"/>
                </a:solidFill>
                <a:latin typeface="Plus Jakarta Sans"/>
              </a:rPr>
              <a:t> </a:t>
            </a:r>
            <a:r>
              <a:rPr sz="1200" b="0" i="0" u="none" dirty="0" err="1">
                <a:solidFill>
                  <a:srgbClr val="334155"/>
                </a:solidFill>
                <a:latin typeface="Plus Jakarta Sans"/>
              </a:rPr>
              <a:t>atual</a:t>
            </a:r>
            <a:r>
              <a:rPr sz="1200" b="0" i="0" u="none" dirty="0">
                <a:solidFill>
                  <a:srgbClr val="334155"/>
                </a:solidFill>
                <a:latin typeface="Plus Jakarta Sans"/>
              </a:rPr>
              <a:t> de </a:t>
            </a:r>
            <a:r>
              <a:rPr sz="1200" b="0" i="0" u="none" dirty="0" err="1">
                <a:solidFill>
                  <a:srgbClr val="334155"/>
                </a:solidFill>
                <a:latin typeface="Plus Jakarta Sans"/>
              </a:rPr>
              <a:t>ativos</a:t>
            </a:r>
            <a:r>
              <a:rPr sz="1200" b="0" i="0" u="none" dirty="0">
                <a:solidFill>
                  <a:srgbClr val="334155"/>
                </a:solidFill>
                <a:latin typeface="Plus Jakarta Sans"/>
              </a:rPr>
              <a:t>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7262" y="3948484"/>
            <a:ext cx="8572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334155"/>
                </a:solidFill>
                <a:latin typeface="Plus Jakarta Sans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0606" y="3912542"/>
            <a:ext cx="3595687" cy="243780"/>
          </a:xfrm>
          <a:prstGeom prst="rect">
            <a:avLst/>
          </a:prstGeom>
          <a:noFill/>
        </p:spPr>
        <p:txBody>
          <a:bodyPr wrap="none" lIns="85725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 dirty="0">
                <a:solidFill>
                  <a:srgbClr val="334155"/>
                </a:solidFill>
                <a:latin typeface="Plus Jakarta Sans"/>
              </a:rPr>
              <a:t>Mercado:</a:t>
            </a:r>
            <a:r>
              <a:rPr sz="1200" b="0" i="0" u="none" dirty="0">
                <a:solidFill>
                  <a:srgbClr val="334155"/>
                </a:solidFill>
                <a:latin typeface="Plus Jakarta Sans"/>
              </a:rPr>
              <a:t> Order book, spread bid-ask.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7262" y="4197994"/>
            <a:ext cx="8572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334155"/>
                </a:solidFill>
                <a:latin typeface="Plus Jakarta Sans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0606" y="4156323"/>
            <a:ext cx="3595687" cy="243780"/>
          </a:xfrm>
          <a:prstGeom prst="rect">
            <a:avLst/>
          </a:prstGeom>
          <a:noFill/>
        </p:spPr>
        <p:txBody>
          <a:bodyPr wrap="none" lIns="85725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334155"/>
                </a:solidFill>
                <a:latin typeface="Plus Jakarta Sans"/>
              </a:rPr>
              <a:t>Sinais: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Indicadores técnicos e macro.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95825" y="3058417"/>
            <a:ext cx="814387" cy="2076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E40AF"/>
                </a:solidFill>
                <a:latin typeface="Plus Jakarta Sans"/>
              </a:rPr>
              <a:t>AÇÃO (</a:t>
            </a:r>
            <a:r>
              <a:rPr sz="1050" b="1" i="1" u="none">
                <a:solidFill>
                  <a:srgbClr val="1E40AF"/>
                </a:solidFill>
                <a:latin typeface="Plus Jakarta Sans"/>
              </a:rPr>
              <a:t>A</a:t>
            </a:r>
            <a:r>
              <a:rPr sz="875" b="1" i="1" u="none">
                <a:solidFill>
                  <a:srgbClr val="1E40AF"/>
                </a:solidFill>
                <a:latin typeface="Plus Jakarta Sans"/>
              </a:rPr>
              <a:t>T</a:t>
            </a:r>
            <a:r>
              <a:rPr sz="1050" b="1" i="0" u="none">
                <a:solidFill>
                  <a:srgbClr val="1E40AF"/>
                </a:solidFill>
                <a:latin typeface="Plus Jakarta Sans"/>
              </a:rPr>
              <a:t>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67250" y="3472063"/>
            <a:ext cx="8572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334155"/>
                </a:solidFill>
                <a:latin typeface="Plus Jakarta Sans"/>
              </a:rP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52975" y="3437483"/>
            <a:ext cx="3595687" cy="243780"/>
          </a:xfrm>
          <a:prstGeom prst="rect">
            <a:avLst/>
          </a:prstGeom>
          <a:noFill/>
        </p:spPr>
        <p:txBody>
          <a:bodyPr wrap="none" lIns="85725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334155"/>
                </a:solidFill>
                <a:latin typeface="Plus Jakarta Sans"/>
              </a:rPr>
              <a:t>Execução: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Comprar, vender ou manter.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2487" y="3726737"/>
            <a:ext cx="8572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334155"/>
                </a:solidFill>
                <a:latin typeface="Plus Jakarta Sans"/>
              </a:rPr>
              <a:t>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52974" y="3681263"/>
            <a:ext cx="3016251" cy="223394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 dirty="0" err="1">
                <a:solidFill>
                  <a:srgbClr val="334155"/>
                </a:solidFill>
                <a:latin typeface="Plus Jakarta Sans"/>
              </a:rPr>
              <a:t>Alocação</a:t>
            </a:r>
            <a:r>
              <a:rPr sz="1200" b="1" i="0" u="none" dirty="0">
                <a:solidFill>
                  <a:srgbClr val="334155"/>
                </a:solidFill>
                <a:latin typeface="Plus Jakarta Sans"/>
              </a:rPr>
              <a:t>:</a:t>
            </a:r>
            <a:r>
              <a:rPr sz="1200" b="0" i="0" u="none" dirty="0">
                <a:solidFill>
                  <a:srgbClr val="334155"/>
                </a:solidFill>
                <a:latin typeface="Plus Jakarta Sans"/>
              </a:rPr>
              <a:t> Pesos </a:t>
            </a:r>
            <a:r>
              <a:rPr sz="1200" b="0" i="0" u="none" dirty="0" err="1">
                <a:solidFill>
                  <a:srgbClr val="334155"/>
                </a:solidFill>
                <a:latin typeface="Plus Jakarta Sans"/>
              </a:rPr>
              <a:t>contínuos</a:t>
            </a:r>
            <a:r>
              <a:rPr sz="1200" b="0" i="0" u="none" dirty="0">
                <a:solidFill>
                  <a:srgbClr val="334155"/>
                </a:solidFill>
                <a:latin typeface="Plus Jakarta Sans"/>
              </a:rPr>
              <a:t> do </a:t>
            </a:r>
            <a:r>
              <a:rPr sz="1200" b="0" i="0" u="none" dirty="0" err="1">
                <a:solidFill>
                  <a:srgbClr val="334155"/>
                </a:solidFill>
                <a:latin typeface="Plus Jakarta Sans"/>
              </a:rPr>
              <a:t>portfólio</a:t>
            </a:r>
            <a:r>
              <a:rPr sz="1200" b="0" i="0" u="none" dirty="0">
                <a:solidFill>
                  <a:srgbClr val="334155"/>
                </a:solidFill>
                <a:latin typeface="Plus Jakarta Sans"/>
              </a:rPr>
              <a:t>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67250" y="4022005"/>
            <a:ext cx="8572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334155"/>
                </a:solidFill>
                <a:latin typeface="Plus Jakarta Sans"/>
              </a:rPr>
              <a:t>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52975" y="3953969"/>
            <a:ext cx="3595687" cy="243780"/>
          </a:xfrm>
          <a:prstGeom prst="rect">
            <a:avLst/>
          </a:prstGeom>
          <a:noFill/>
        </p:spPr>
        <p:txBody>
          <a:bodyPr wrap="none" lIns="85725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 dirty="0" err="1">
                <a:solidFill>
                  <a:srgbClr val="334155"/>
                </a:solidFill>
                <a:latin typeface="Plus Jakarta Sans"/>
              </a:rPr>
              <a:t>Cotagem</a:t>
            </a:r>
            <a:r>
              <a:rPr sz="1200" b="1" i="0" u="none" dirty="0">
                <a:solidFill>
                  <a:srgbClr val="334155"/>
                </a:solidFill>
                <a:latin typeface="Plus Jakarta Sans"/>
              </a:rPr>
              <a:t>:</a:t>
            </a:r>
            <a:r>
              <a:rPr sz="1200" b="0" i="0" u="none" dirty="0">
                <a:solidFill>
                  <a:srgbClr val="334155"/>
                </a:solidFill>
                <a:latin typeface="Plus Jakarta Sans"/>
              </a:rPr>
              <a:t> </a:t>
            </a:r>
            <a:r>
              <a:rPr sz="1200" b="0" i="0" u="none" dirty="0" err="1">
                <a:solidFill>
                  <a:srgbClr val="334155"/>
                </a:solidFill>
                <a:latin typeface="Plus Jakarta Sans"/>
              </a:rPr>
              <a:t>Preços</a:t>
            </a:r>
            <a:r>
              <a:rPr sz="1200" b="0" i="0" u="none" dirty="0">
                <a:solidFill>
                  <a:srgbClr val="334155"/>
                </a:solidFill>
                <a:latin typeface="Plus Jakarta Sans"/>
              </a:rPr>
              <a:t> e </a:t>
            </a:r>
            <a:r>
              <a:rPr sz="1200" b="0" i="0" u="none" dirty="0" err="1">
                <a:solidFill>
                  <a:srgbClr val="334155"/>
                </a:solidFill>
                <a:latin typeface="Plus Jakarta Sans"/>
              </a:rPr>
              <a:t>tamanhos</a:t>
            </a:r>
            <a:r>
              <a:rPr sz="1200" b="0" i="0" u="none" dirty="0">
                <a:solidFill>
                  <a:srgbClr val="334155"/>
                </a:solidFill>
                <a:latin typeface="Plus Jakarta Sans"/>
              </a:rPr>
              <a:t> bid/ask.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67250" y="4296449"/>
            <a:ext cx="8572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334155"/>
                </a:solidFill>
                <a:latin typeface="Plus Jakarta Sans"/>
              </a:rPr>
              <a:t>•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48212" y="4246662"/>
            <a:ext cx="2971800" cy="487560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334155"/>
                </a:solidFill>
                <a:latin typeface="Plus Jakarta Sans"/>
              </a:rPr>
              <a:t>Volume: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Quantidade fracionada por etapa.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10575" y="3058417"/>
            <a:ext cx="1366837" cy="2076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92400E"/>
                </a:solidFill>
                <a:latin typeface="Plus Jakarta Sans"/>
              </a:rPr>
              <a:t>RECOMPENSA (</a:t>
            </a:r>
            <a:r>
              <a:rPr sz="1050" b="1" i="1" u="none">
                <a:solidFill>
                  <a:srgbClr val="92400E"/>
                </a:solidFill>
                <a:latin typeface="Plus Jakarta Sans"/>
              </a:rPr>
              <a:t>R</a:t>
            </a:r>
            <a:r>
              <a:rPr sz="875" b="1" i="1" u="none">
                <a:solidFill>
                  <a:srgbClr val="92400E"/>
                </a:solidFill>
                <a:latin typeface="Plus Jakarta Sans"/>
              </a:rPr>
              <a:t>T</a:t>
            </a:r>
            <a:r>
              <a:rPr sz="1050" b="1" i="0" u="none">
                <a:solidFill>
                  <a:srgbClr val="92400E"/>
                </a:solidFill>
                <a:latin typeface="Plus Jakarta Sans"/>
              </a:rPr>
              <a:t>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81205" y="3474465"/>
            <a:ext cx="8572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334155"/>
                </a:solidFill>
                <a:latin typeface="Plus Jakarta Sans"/>
              </a:rPr>
              <a:t>•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67725" y="3437483"/>
            <a:ext cx="3595687" cy="243780"/>
          </a:xfrm>
          <a:prstGeom prst="rect">
            <a:avLst/>
          </a:prstGeom>
          <a:noFill/>
        </p:spPr>
        <p:txBody>
          <a:bodyPr wrap="none" lIns="85725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334155"/>
                </a:solidFill>
                <a:latin typeface="Plus Jakarta Sans"/>
              </a:rPr>
              <a:t>Lucro Direto: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PnL acumulado.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82000" y="3722849"/>
            <a:ext cx="8572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334155"/>
                </a:solidFill>
                <a:latin typeface="Plus Jakarta Sans"/>
              </a:rPr>
              <a:t>•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67725" y="3681263"/>
            <a:ext cx="3595687" cy="243780"/>
          </a:xfrm>
          <a:prstGeom prst="rect">
            <a:avLst/>
          </a:prstGeom>
          <a:noFill/>
        </p:spPr>
        <p:txBody>
          <a:bodyPr wrap="none" lIns="85725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334155"/>
                </a:solidFill>
                <a:latin typeface="Plus Jakarta Sans"/>
              </a:rPr>
              <a:t>Ajustado ao Risco: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Sharpe / Sortino.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82000" y="3959599"/>
            <a:ext cx="8572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334155"/>
                </a:solidFill>
                <a:latin typeface="Plus Jakarta Sans"/>
              </a:rPr>
              <a:t>•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67724" y="3925044"/>
            <a:ext cx="3286125" cy="223394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 dirty="0" err="1">
                <a:solidFill>
                  <a:srgbClr val="334155"/>
                </a:solidFill>
                <a:latin typeface="Plus Jakarta Sans"/>
              </a:rPr>
              <a:t>Penalidades</a:t>
            </a:r>
            <a:r>
              <a:rPr sz="1200" b="1" i="0" u="none" dirty="0">
                <a:solidFill>
                  <a:srgbClr val="334155"/>
                </a:solidFill>
                <a:latin typeface="Plus Jakarta Sans"/>
              </a:rPr>
              <a:t>:</a:t>
            </a:r>
            <a:r>
              <a:rPr sz="1200" b="0" i="0" u="none" dirty="0">
                <a:solidFill>
                  <a:srgbClr val="334155"/>
                </a:solidFill>
                <a:latin typeface="Plus Jakarta Sans"/>
              </a:rPr>
              <a:t> Risco de </a:t>
            </a:r>
            <a:r>
              <a:rPr sz="1200" b="0" i="0" u="none" dirty="0" err="1">
                <a:solidFill>
                  <a:srgbClr val="334155"/>
                </a:solidFill>
                <a:latin typeface="Plus Jakarta Sans"/>
              </a:rPr>
              <a:t>inventário</a:t>
            </a:r>
            <a:r>
              <a:rPr sz="1200" b="0" i="0" u="none" dirty="0">
                <a:solidFill>
                  <a:srgbClr val="334155"/>
                </a:solidFill>
                <a:latin typeface="Plus Jakarta Sans"/>
              </a:rPr>
              <a:t> e custos.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82000" y="4226123"/>
            <a:ext cx="8572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334155"/>
                </a:solidFill>
                <a:latin typeface="Plus Jakarta Sans"/>
              </a:rPr>
              <a:t>•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66930" y="4176494"/>
            <a:ext cx="3553619" cy="223394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 dirty="0" err="1">
                <a:solidFill>
                  <a:srgbClr val="334155"/>
                </a:solidFill>
                <a:latin typeface="Plus Jakarta Sans"/>
              </a:rPr>
              <a:t>Execução</a:t>
            </a:r>
            <a:r>
              <a:rPr sz="1200" b="1" i="0" u="none" dirty="0">
                <a:solidFill>
                  <a:srgbClr val="334155"/>
                </a:solidFill>
                <a:latin typeface="Plus Jakarta Sans"/>
              </a:rPr>
              <a:t>:</a:t>
            </a:r>
            <a:r>
              <a:rPr sz="1200" b="0" i="0" u="none" dirty="0">
                <a:solidFill>
                  <a:srgbClr val="334155"/>
                </a:solidFill>
                <a:latin typeface="Plus Jakarta Sans"/>
              </a:rPr>
              <a:t> Implementation Shortfall.</a:t>
            </a:r>
          </a:p>
        </p:txBody>
      </p:sp>
      <p:sp>
        <p:nvSpPr>
          <p:cNvPr id="51" name="TextBox 10">
            <a:extLst>
              <a:ext uri="{FF2B5EF4-FFF2-40B4-BE49-F238E27FC236}">
                <a16:creationId xmlns:a16="http://schemas.microsoft.com/office/drawing/2014/main" id="{062968C4-DD59-92FF-74BB-79714E42975B}"/>
              </a:ext>
            </a:extLst>
          </p:cNvPr>
          <p:cNvSpPr txBox="1"/>
          <p:nvPr/>
        </p:nvSpPr>
        <p:spPr>
          <a:xfrm>
            <a:off x="609600" y="6229350"/>
            <a:ext cx="610745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 dirty="0">
                <a:solidFill>
                  <a:srgbClr val="64748B"/>
                </a:solidFill>
                <a:latin typeface="Plus Jakarta Sans"/>
              </a:rPr>
              <a:t>Slide </a:t>
            </a:r>
            <a:r>
              <a:rPr lang="pt-BR" sz="1050" b="0" i="0" u="none" dirty="0">
                <a:solidFill>
                  <a:srgbClr val="64748B"/>
                </a:solidFill>
                <a:latin typeface="Plus Jakarta Sans"/>
              </a:rPr>
              <a:t>3</a:t>
            </a:r>
            <a:r>
              <a:rPr sz="1050" b="0" i="0" u="none" dirty="0">
                <a:solidFill>
                  <a:srgbClr val="64748B"/>
                </a:solidFill>
                <a:latin typeface="Plus Jakarta Sans"/>
              </a:rPr>
              <a:t>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6067425"/>
            <a:ext cx="10972800" cy="3333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6067425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1347787"/>
            <a:ext cx="3530500" cy="2954535"/>
          </a:xfrm>
          <a:prstGeom prst="roundRect">
            <a:avLst>
              <a:gd name="adj" fmla="val 3868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330600" y="1347787"/>
            <a:ext cx="3530649" cy="2954535"/>
          </a:xfrm>
          <a:prstGeom prst="roundRect">
            <a:avLst>
              <a:gd name="adj" fmla="val 3868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051750" y="1347787"/>
            <a:ext cx="3530500" cy="2954535"/>
          </a:xfrm>
          <a:prstGeom prst="roundRect">
            <a:avLst>
              <a:gd name="adj" fmla="val 3868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47725" y="1585912"/>
            <a:ext cx="3054250" cy="3714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68725" y="1585912"/>
            <a:ext cx="3054399" cy="3714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289875" y="1585912"/>
            <a:ext cx="3054250" cy="3714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47725" y="1938337"/>
            <a:ext cx="305425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68725" y="1938337"/>
            <a:ext cx="3054399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289875" y="1938337"/>
            <a:ext cx="305425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1590675"/>
            <a:ext cx="257175" cy="2286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8725" y="1590675"/>
            <a:ext cx="257175" cy="2286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9875" y="1590675"/>
            <a:ext cx="200025" cy="2286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09600" y="457200"/>
            <a:ext cx="115824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2563EB"/>
                </a:solidFill>
                <a:latin typeface="Plus Jakarta Sans"/>
              </a:rPr>
              <a:t>DOMÍNIOS DE APLICAÇÃO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714375"/>
            <a:ext cx="11582400" cy="4048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sz="2550" b="1" i="0" u="none">
                <a:solidFill>
                  <a:srgbClr val="0F172A"/>
                </a:solidFill>
                <a:latin typeface="Space Grotesk"/>
              </a:rPr>
              <a:t>Onde o RL é Aplicado em Finanças?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19200" y="1585912"/>
            <a:ext cx="1812726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Market Making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7725" y="2109787"/>
            <a:ext cx="314950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4748B"/>
                </a:solidFill>
                <a:latin typeface="Plus Jakarta Sans"/>
              </a:rPr>
              <a:t>Objetivo Geral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7725" y="2795587"/>
            <a:ext cx="314950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4748B"/>
                </a:solidFill>
                <a:latin typeface="Plus Jakarta Sans"/>
              </a:rPr>
              <a:t>Decisões do Agente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7725" y="3481387"/>
            <a:ext cx="3149500" cy="352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DC2626"/>
                </a:solidFill>
                <a:latin typeface="Plus Jakarta Sans"/>
              </a:rPr>
              <a:t>Risco Dominante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40200" y="1585912"/>
            <a:ext cx="2725340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Portfolio Management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8725" y="2109787"/>
            <a:ext cx="3149649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4748B"/>
                </a:solidFill>
                <a:latin typeface="Plus Jakarta Sans"/>
              </a:rPr>
              <a:t>Objetivo Geral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68725" y="2795587"/>
            <a:ext cx="3149649" cy="582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4748B"/>
                </a:solidFill>
                <a:latin typeface="Plus Jakarta Sans"/>
              </a:rPr>
              <a:t>Decisões do Agente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68725" y="3511748"/>
            <a:ext cx="3149649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DC2626"/>
                </a:solidFill>
                <a:latin typeface="Plus Jakarta Sans"/>
              </a:rPr>
              <a:t>Risco Dominante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04200" y="1585912"/>
            <a:ext cx="225028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Optimal Execution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89875" y="2109787"/>
            <a:ext cx="314950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4748B"/>
                </a:solidFill>
                <a:latin typeface="Plus Jakarta Sans"/>
              </a:rPr>
              <a:t>Objetivo Geral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89875" y="2795587"/>
            <a:ext cx="314950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4748B"/>
                </a:solidFill>
                <a:latin typeface="Plus Jakarta Sans"/>
              </a:rPr>
              <a:t>Decisões do Agente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89875" y="3481387"/>
            <a:ext cx="314950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DC2626"/>
                </a:solidFill>
                <a:latin typeface="Plus Jakarta Sans"/>
              </a:rPr>
              <a:t>Risco Dominante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7725" y="2262187"/>
            <a:ext cx="31495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1E293B"/>
                </a:solidFill>
                <a:latin typeface="Plus Jakarta Sans"/>
              </a:rPr>
              <a:t>Lucrar via spread bid-ask provendo liquidez contínua.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7725" y="2947987"/>
            <a:ext cx="31495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1E293B"/>
                </a:solidFill>
                <a:latin typeface="Plus Jakarta Sans"/>
              </a:rPr>
              <a:t>Ajuste dinâmico de preços limite e volumes das ordens.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7725" y="3633787"/>
            <a:ext cx="381781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Exposição a inventário e seleção adversa.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68725" y="2262187"/>
            <a:ext cx="3149649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1E293B"/>
                </a:solidFill>
                <a:latin typeface="Plus Jakarta Sans"/>
              </a:rPr>
              <a:t>Otimizar alocação de capital entre múltiplos ativos.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68725" y="2947987"/>
            <a:ext cx="3149649" cy="4304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1E293B"/>
                </a:solidFill>
                <a:latin typeface="Plus Jakarta Sans"/>
              </a:rPr>
              <a:t>Redefinição periódica dos pesos do portfólio (</a:t>
            </a:r>
            <a:r>
              <a:rPr sz="1200" b="0" i="1" u="none">
                <a:solidFill>
                  <a:srgbClr val="1E293B"/>
                </a:solidFill>
                <a:latin typeface="Plus Jakarta Sans"/>
              </a:rPr>
              <a:t>w</a:t>
            </a:r>
            <a:r>
              <a:rPr sz="999" b="0" i="1" u="none">
                <a:solidFill>
                  <a:srgbClr val="1E293B"/>
                </a:solidFill>
                <a:latin typeface="Plus Jakarta Sans"/>
              </a:rPr>
              <a:t>t</a:t>
            </a:r>
            <a:r>
              <a:rPr sz="1200" b="0" i="0" u="none">
                <a:solidFill>
                  <a:srgbClr val="1E293B"/>
                </a:solidFill>
                <a:latin typeface="Plus Jakarta Sans"/>
              </a:rPr>
              <a:t>).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68725" y="3664148"/>
            <a:ext cx="3149649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Volatilidade e perdas severas em bear markets.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89875" y="2262187"/>
            <a:ext cx="31495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1E293B"/>
                </a:solidFill>
                <a:latin typeface="Plus Jakarta Sans"/>
              </a:rPr>
              <a:t>Liquidar grande bloco de ordens minimizando custos.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89875" y="2947987"/>
            <a:ext cx="31495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1E293B"/>
                </a:solidFill>
                <a:latin typeface="Plus Jakarta Sans"/>
              </a:rPr>
              <a:t>Fracionamento de volume e timing de submissão.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89875" y="3633787"/>
            <a:ext cx="31495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Impacto de mercado e slippage temporário.</a:t>
            </a:r>
          </a:p>
        </p:txBody>
      </p:sp>
      <p:sp>
        <p:nvSpPr>
          <p:cNvPr id="41" name="TextBox 10">
            <a:extLst>
              <a:ext uri="{FF2B5EF4-FFF2-40B4-BE49-F238E27FC236}">
                <a16:creationId xmlns:a16="http://schemas.microsoft.com/office/drawing/2014/main" id="{6CEEEDD4-550B-3272-AFA5-D906D82E0707}"/>
              </a:ext>
            </a:extLst>
          </p:cNvPr>
          <p:cNvSpPr txBox="1"/>
          <p:nvPr/>
        </p:nvSpPr>
        <p:spPr>
          <a:xfrm>
            <a:off x="609600" y="6229350"/>
            <a:ext cx="610745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 dirty="0">
                <a:solidFill>
                  <a:srgbClr val="64748B"/>
                </a:solidFill>
                <a:latin typeface="Plus Jakarta Sans"/>
              </a:rPr>
              <a:t>Slide </a:t>
            </a:r>
            <a:r>
              <a:rPr lang="pt-BR" sz="1050" b="0" i="0" u="none" dirty="0">
                <a:solidFill>
                  <a:srgbClr val="64748B"/>
                </a:solidFill>
                <a:latin typeface="Plus Jakarta Sans"/>
              </a:rPr>
              <a:t>4</a:t>
            </a:r>
            <a:r>
              <a:rPr sz="1050" b="0" i="0" u="none" dirty="0">
                <a:solidFill>
                  <a:srgbClr val="64748B"/>
                </a:solidFill>
                <a:latin typeface="Plus Jakarta Sans"/>
              </a:rPr>
              <a:t>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6067425"/>
            <a:ext cx="10972800" cy="3333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6067425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1347788"/>
            <a:ext cx="5860405" cy="3295650"/>
          </a:xfrm>
          <a:prstGeom prst="roundRect">
            <a:avLst>
              <a:gd name="adj" fmla="val 4428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698605" y="1347787"/>
            <a:ext cx="4883646" cy="1009650"/>
          </a:xfrm>
          <a:prstGeom prst="roundRect">
            <a:avLst>
              <a:gd name="adj" fmla="val 1132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698605" y="2490787"/>
            <a:ext cx="4883646" cy="1009650"/>
          </a:xfrm>
          <a:prstGeom prst="roundRect">
            <a:avLst>
              <a:gd name="adj" fmla="val 1132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698605" y="3633787"/>
            <a:ext cx="4883646" cy="1009650"/>
          </a:xfrm>
          <a:prstGeom prst="roundRect">
            <a:avLst>
              <a:gd name="adj" fmla="val 11320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28675" y="2081212"/>
            <a:ext cx="5422255" cy="9525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28675" y="2500312"/>
            <a:ext cx="5422255" cy="9525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28675" y="2919412"/>
            <a:ext cx="5422255" cy="9525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28675" y="3338512"/>
            <a:ext cx="5422255" cy="9525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28675" y="2081212"/>
            <a:ext cx="4608909" cy="952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28675" y="2500312"/>
            <a:ext cx="4066579" cy="9525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28675" y="2919412"/>
            <a:ext cx="3524398" cy="9525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8675" y="3338512"/>
            <a:ext cx="1355526" cy="9525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675" y="1595437"/>
            <a:ext cx="133350" cy="1333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09600" y="457200"/>
            <a:ext cx="115824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2563EB"/>
                </a:solidFill>
                <a:latin typeface="Plus Jakarta Sans"/>
              </a:rPr>
              <a:t>TAXONOMIA ALGORÍTMICA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714375"/>
            <a:ext cx="11582400" cy="4048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sz="2550" b="1" i="0" u="none">
                <a:solidFill>
                  <a:srgbClr val="0F172A"/>
                </a:solidFill>
                <a:latin typeface="Space Grotesk"/>
              </a:rPr>
              <a:t>Quais Algoritmos São Utilizados na Literatura?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675" y="1566862"/>
            <a:ext cx="1989327" cy="161583"/>
          </a:xfrm>
          <a:prstGeom prst="rect">
            <a:avLst/>
          </a:prstGeom>
          <a:noFill/>
        </p:spPr>
        <p:txBody>
          <a:bodyPr wrap="none" lIns="20955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0F172A"/>
                </a:solidFill>
                <a:latin typeface="Plus Jakarta Sans"/>
              </a:rPr>
              <a:t>FREQUÊNCIA DE ALGORITMOS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675" y="3567112"/>
            <a:ext cx="6777818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 dirty="0">
                <a:solidFill>
                  <a:srgbClr val="64748B"/>
                </a:solidFill>
                <a:latin typeface="Plus Jakarta Sans"/>
              </a:rPr>
              <a:t>Fonte: Bai et al. (2025), </a:t>
            </a:r>
            <a:r>
              <a:rPr sz="900" b="0" i="0" u="none" dirty="0" err="1">
                <a:solidFill>
                  <a:srgbClr val="64748B"/>
                </a:solidFill>
                <a:latin typeface="Plus Jakarta Sans"/>
              </a:rPr>
              <a:t>Figura</a:t>
            </a:r>
            <a:r>
              <a:rPr sz="900" b="0" i="0" u="none" dirty="0">
                <a:solidFill>
                  <a:srgbClr val="64748B"/>
                </a:solidFill>
                <a:latin typeface="Plus Jakarta Sans"/>
              </a:rPr>
              <a:t> 1, p. 212. </a:t>
            </a:r>
            <a:r>
              <a:rPr sz="900" b="0" i="0" u="none" dirty="0" err="1">
                <a:solidFill>
                  <a:srgbClr val="64748B"/>
                </a:solidFill>
                <a:latin typeface="Plus Jakarta Sans"/>
              </a:rPr>
              <a:t>Números</a:t>
            </a:r>
            <a:r>
              <a:rPr sz="900" b="0" i="0" u="none" dirty="0">
                <a:solidFill>
                  <a:srgbClr val="64748B"/>
                </a:solidFill>
                <a:latin typeface="Plus Jakarta Sans"/>
              </a:rPr>
              <a:t> </a:t>
            </a:r>
            <a:r>
              <a:rPr sz="900" b="0" i="0" u="none" dirty="0" err="1">
                <a:solidFill>
                  <a:srgbClr val="64748B"/>
                </a:solidFill>
                <a:latin typeface="Plus Jakarta Sans"/>
              </a:rPr>
              <a:t>reportados</a:t>
            </a:r>
            <a:r>
              <a:rPr sz="900" b="0" i="0" u="none" dirty="0">
                <a:solidFill>
                  <a:srgbClr val="64748B"/>
                </a:solidFill>
                <a:latin typeface="Plus Jakarta Sans"/>
              </a:rPr>
              <a:t> no </a:t>
            </a:r>
            <a:r>
              <a:rPr sz="900" b="0" i="0" u="none" dirty="0" err="1">
                <a:solidFill>
                  <a:srgbClr val="64748B"/>
                </a:solidFill>
                <a:latin typeface="Plus Jakarta Sans"/>
              </a:rPr>
              <a:t>levantamento</a:t>
            </a:r>
            <a:r>
              <a:rPr sz="900" b="0" i="0" u="none" dirty="0">
                <a:solidFill>
                  <a:srgbClr val="64748B"/>
                </a:solidFill>
                <a:latin typeface="Plus Jakarta Sans"/>
              </a:rPr>
              <a:t>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17680" y="1528762"/>
            <a:ext cx="5274319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Plus Jakarta Sans"/>
              </a:rPr>
              <a:t>Predomínio Model-Free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17680" y="1776412"/>
            <a:ext cx="4540746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Métodos </a:t>
            </a:r>
            <a:r>
              <a:rPr sz="1125" b="0" i="1" u="none">
                <a:solidFill>
                  <a:srgbClr val="475569"/>
                </a:solidFill>
                <a:latin typeface="Plus Jakarta Sans"/>
              </a:rPr>
              <a:t>model-free</a:t>
            </a:r>
            <a:r>
              <a:rPr sz="1125" b="0" i="0" u="none">
                <a:solidFill>
                  <a:srgbClr val="475569"/>
                </a:solidFill>
                <a:latin typeface="Plus Jakarta Sans"/>
              </a:rPr>
              <a:t> dominam devido à dificuldade de modelar dinâmicas estocásticas de mercado.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17680" y="2671762"/>
            <a:ext cx="5274319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Plus Jakarta Sans"/>
              </a:rPr>
              <a:t>Ações Discretas vs. Contínuas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17680" y="2919412"/>
            <a:ext cx="4540746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DQN/SARSA predominam em execução discreta; DDPG/PPO em alocação contínua de carteiras.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17680" y="3814762"/>
            <a:ext cx="5274319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991B1B"/>
                </a:solidFill>
                <a:latin typeface="Plus Jakarta Sans"/>
              </a:rPr>
              <a:t>Advertência Científica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17680" y="4062412"/>
            <a:ext cx="4540746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991B1B"/>
                </a:solidFill>
                <a:latin typeface="Plus Jakarta Sans"/>
              </a:rPr>
              <a:t>Frequência de publicação reflete conveniência empírica, </a:t>
            </a:r>
            <a:r>
              <a:rPr sz="1125" b="1" i="0" u="none">
                <a:solidFill>
                  <a:srgbClr val="991B1B"/>
                </a:solidFill>
                <a:latin typeface="Plus Jakarta Sans"/>
              </a:rPr>
              <a:t>não superioridade de desempenho comprovada</a:t>
            </a:r>
            <a:r>
              <a:rPr sz="1125" b="0" i="0" u="none">
                <a:solidFill>
                  <a:srgbClr val="991B1B"/>
                </a:solidFill>
                <a:latin typeface="Plus Jakarta Sans"/>
              </a:rPr>
              <a:t>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8675" y="1871662"/>
            <a:ext cx="3059906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E293B"/>
                </a:solidFill>
                <a:latin typeface="Plus Jakarta Sans"/>
              </a:rPr>
              <a:t>Actor-Only (PG, PPO, Neuroevolution)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22155" y="1871662"/>
            <a:ext cx="2035968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Alta Adoção em Portfolio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8675" y="2290762"/>
            <a:ext cx="307181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E293B"/>
                </a:solidFill>
                <a:latin typeface="Plus Jakarta Sans"/>
              </a:rPr>
              <a:t>Critic-Only (DQN, Q-Learning, SARSA)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41155" y="2290762"/>
            <a:ext cx="2512218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59669"/>
                </a:solidFill>
                <a:latin typeface="Plus Jakarta Sans"/>
              </a:rPr>
              <a:t>Dominante em Execution &amp; MM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8675" y="2709862"/>
            <a:ext cx="2917031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E293B"/>
                </a:solidFill>
                <a:latin typeface="Plus Jakarta Sans"/>
              </a:rPr>
              <a:t>Actor-Critic (A2C/A3C, DDPG, NAC)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88755" y="2709862"/>
            <a:ext cx="2702718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D97706"/>
                </a:solidFill>
                <a:latin typeface="Plus Jakarta Sans"/>
              </a:rPr>
              <a:t>Crescente em Espaços Contínuos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8675" y="3128962"/>
            <a:ext cx="292893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E293B"/>
                </a:solidFill>
                <a:latin typeface="Plus Jakarta Sans"/>
              </a:rPr>
              <a:t>Model-Based (Simuladores/ABIDES)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36430" y="3128962"/>
            <a:ext cx="1033937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DC2626"/>
                </a:solidFill>
                <a:latin typeface="Plus Jakarta Sans"/>
              </a:rPr>
              <a:t>Sub-</a:t>
            </a:r>
            <a:r>
              <a:rPr sz="1050" b="1" i="0" u="none" dirty="0" err="1">
                <a:solidFill>
                  <a:srgbClr val="DC2626"/>
                </a:solidFill>
                <a:latin typeface="Plus Jakarta Sans"/>
              </a:rPr>
              <a:t>representado</a:t>
            </a:r>
            <a:r>
              <a:rPr sz="1050" b="1" i="0" u="none" dirty="0">
                <a:solidFill>
                  <a:srgbClr val="DC2626"/>
                </a:solidFill>
                <a:latin typeface="Plus Jakarta Sans"/>
              </a:rPr>
              <a:t> </a:t>
            </a:r>
          </a:p>
        </p:txBody>
      </p:sp>
      <p:sp>
        <p:nvSpPr>
          <p:cNvPr id="38" name="TextBox 10">
            <a:extLst>
              <a:ext uri="{FF2B5EF4-FFF2-40B4-BE49-F238E27FC236}">
                <a16:creationId xmlns:a16="http://schemas.microsoft.com/office/drawing/2014/main" id="{82A53584-81BE-5853-C574-24C7F472D320}"/>
              </a:ext>
            </a:extLst>
          </p:cNvPr>
          <p:cNvSpPr txBox="1"/>
          <p:nvPr/>
        </p:nvSpPr>
        <p:spPr>
          <a:xfrm>
            <a:off x="609600" y="6229350"/>
            <a:ext cx="610745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 dirty="0">
                <a:solidFill>
                  <a:srgbClr val="64748B"/>
                </a:solidFill>
                <a:latin typeface="Plus Jakarta Sans"/>
              </a:rPr>
              <a:t>Slide </a:t>
            </a:r>
            <a:r>
              <a:rPr lang="pt-BR" sz="1050" b="0" i="0" u="none" dirty="0">
                <a:solidFill>
                  <a:srgbClr val="64748B"/>
                </a:solidFill>
                <a:latin typeface="Plus Jakarta Sans"/>
              </a:rPr>
              <a:t>5</a:t>
            </a:r>
            <a:r>
              <a:rPr sz="1050" b="0" i="0" u="none" dirty="0">
                <a:solidFill>
                  <a:srgbClr val="64748B"/>
                </a:solidFill>
                <a:latin typeface="Plus Jakarta Sans"/>
              </a:rPr>
              <a:t>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6067425"/>
            <a:ext cx="10972800" cy="3333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1347787"/>
            <a:ext cx="10972800" cy="1960959"/>
          </a:xfrm>
          <a:prstGeom prst="roundRect">
            <a:avLst>
              <a:gd name="adj" fmla="val 5828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6067425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3537346"/>
            <a:ext cx="5400675" cy="1123950"/>
          </a:xfrm>
          <a:prstGeom prst="roundRect">
            <a:avLst>
              <a:gd name="adj" fmla="val 1016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181725" y="3537346"/>
            <a:ext cx="5400675" cy="1123950"/>
          </a:xfrm>
          <a:prstGeom prst="roundRect">
            <a:avLst>
              <a:gd name="adj" fmla="val 1016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09600" y="4832746"/>
            <a:ext cx="5400675" cy="1123950"/>
          </a:xfrm>
          <a:prstGeom prst="roundRect">
            <a:avLst>
              <a:gd name="adj" fmla="val 1016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181725" y="4832746"/>
            <a:ext cx="5400675" cy="1123950"/>
          </a:xfrm>
          <a:prstGeom prst="roundRect">
            <a:avLst>
              <a:gd name="adj" fmla="val 1016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47725" y="3775471"/>
            <a:ext cx="447675" cy="285750"/>
          </a:xfrm>
          <a:prstGeom prst="roundRect">
            <a:avLst>
              <a:gd name="adj" fmla="val 2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419850" y="3775471"/>
            <a:ext cx="466725" cy="285750"/>
          </a:xfrm>
          <a:prstGeom prst="roundRect">
            <a:avLst>
              <a:gd name="adj" fmla="val 2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47725" y="5070871"/>
            <a:ext cx="476250" cy="285750"/>
          </a:xfrm>
          <a:prstGeom prst="roundRect">
            <a:avLst>
              <a:gd name="adj" fmla="val 2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419850" y="5070871"/>
            <a:ext cx="476250" cy="285750"/>
          </a:xfrm>
          <a:prstGeom prst="roundRect">
            <a:avLst>
              <a:gd name="adj" fmla="val 2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948362" y="2283023"/>
            <a:ext cx="2295525" cy="190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09600" y="457200"/>
            <a:ext cx="115824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2563EB"/>
                </a:solidFill>
                <a:latin typeface="Plus Jakarta Sans"/>
              </a:rPr>
              <a:t>RIGORMETRIA DE AVALIAÇÃO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714375"/>
            <a:ext cx="11582400" cy="4048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sz="2550" b="1" i="0" u="none">
                <a:solidFill>
                  <a:srgbClr val="0F172A"/>
                </a:solidFill>
                <a:latin typeface="Space Grotesk"/>
              </a:rPr>
              <a:t>Como Comparar Estudos Heterogêneos?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-226218" y="1595437"/>
            <a:ext cx="1264443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38BDF8"/>
                </a:solidFill>
                <a:latin typeface="Plus Jakarta Sans"/>
              </a:rPr>
              <a:t>MÉTRICA DE PADRONIZAÇÃO PROPOSTA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5843" y="2818209"/>
            <a:ext cx="10120312" cy="24288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125" b="0" i="0" u="none">
                <a:solidFill>
                  <a:srgbClr val="CBD5E1"/>
                </a:solidFill>
                <a:latin typeface="Plus Jakarta Sans"/>
              </a:rPr>
              <a:t>Onde </a:t>
            </a:r>
            <a:r>
              <a:rPr sz="1125" b="0" i="1" u="none">
                <a:solidFill>
                  <a:srgbClr val="CBD5E1"/>
                </a:solidFill>
                <a:latin typeface="Plus Jakarta Sans"/>
              </a:rPr>
              <a:t>SR</a:t>
            </a:r>
            <a:r>
              <a:rPr sz="937" b="0" i="1" u="none">
                <a:solidFill>
                  <a:srgbClr val="CBD5E1"/>
                </a:solidFill>
                <a:latin typeface="Plus Jakarta Sans"/>
              </a:rPr>
              <a:t>RL</a:t>
            </a:r>
            <a:r>
              <a:rPr sz="1125" b="0" i="0" u="none">
                <a:solidFill>
                  <a:srgbClr val="CBD5E1"/>
                </a:solidFill>
                <a:latin typeface="Plus Jakarta Sans"/>
              </a:rPr>
              <a:t> é o Sharpe Ratio do método RL e </a:t>
            </a:r>
            <a:r>
              <a:rPr sz="1125" b="0" i="1" u="none">
                <a:solidFill>
                  <a:srgbClr val="CBD5E1"/>
                </a:solidFill>
                <a:latin typeface="Plus Jakarta Sans"/>
              </a:rPr>
              <a:t>SR</a:t>
            </a:r>
            <a:r>
              <a:rPr sz="937" b="0" i="1" u="none">
                <a:solidFill>
                  <a:srgbClr val="CBD5E1"/>
                </a:solidFill>
                <a:latin typeface="Plus Jakarta Sans"/>
              </a:rPr>
              <a:t>Baseline</a:t>
            </a:r>
            <a:r>
              <a:rPr sz="1125" b="0" i="0" u="none">
                <a:solidFill>
                  <a:srgbClr val="CBD5E1"/>
                </a:solidFill>
                <a:latin typeface="Plus Jakarta Sans"/>
              </a:rPr>
              <a:t> do melhor método não-RL considerado no artigo.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14750" y="2111573"/>
            <a:ext cx="2333625" cy="3619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250" b="1" i="0" u="none">
                <a:solidFill>
                  <a:srgbClr val="FFFFFF"/>
                </a:solidFill>
                <a:latin typeface="Plus Jakarta Sans"/>
              </a:rPr>
              <a:t>RL Premium =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1075" y="3832621"/>
            <a:ext cx="27622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E40AF"/>
                </a:solidFill>
                <a:latin typeface="Plus Jakarta Sans"/>
              </a:rPr>
              <a:t>Q1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3200" y="3832621"/>
            <a:ext cx="2952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E40AF"/>
                </a:solidFill>
                <a:latin typeface="Plus Jakarta Sans"/>
              </a:rPr>
              <a:t>Q2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1075" y="5128021"/>
            <a:ext cx="3048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E40AF"/>
                </a:solidFill>
                <a:latin typeface="Plus Jakarta Sans"/>
              </a:rPr>
              <a:t>Q3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53200" y="5128021"/>
            <a:ext cx="3048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E40AF"/>
                </a:solidFill>
                <a:latin typeface="Plus Jakarta Sans"/>
              </a:rPr>
              <a:t>Q4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13821" y="1881187"/>
            <a:ext cx="2564606" cy="3827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50" b="1" i="0" u="none">
                <a:solidFill>
                  <a:srgbClr val="38BDF8"/>
                </a:solidFill>
                <a:latin typeface="Plus Jakarta Sans"/>
              </a:rPr>
              <a:t>SR</a:t>
            </a:r>
            <a:r>
              <a:rPr sz="1625" b="1" i="0" u="none">
                <a:solidFill>
                  <a:srgbClr val="38BDF8"/>
                </a:solidFill>
                <a:latin typeface="Plus Jakarta Sans"/>
              </a:rPr>
              <a:t>RL</a:t>
            </a:r>
            <a:r>
              <a:rPr sz="1950" b="1" i="0" u="none">
                <a:solidFill>
                  <a:srgbClr val="38BDF8"/>
                </a:solidFill>
                <a:latin typeface="Plus Jakarta Sans"/>
              </a:rPr>
              <a:t> − SR</a:t>
            </a:r>
            <a:r>
              <a:rPr sz="1625" b="1" i="0" u="none">
                <a:solidFill>
                  <a:srgbClr val="38BDF8"/>
                </a:solidFill>
                <a:latin typeface="Plus Jakarta Sans"/>
              </a:rPr>
              <a:t>Baseline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69843" y="2340173"/>
            <a:ext cx="1452562" cy="3637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50" b="1" i="0" u="none">
                <a:solidFill>
                  <a:srgbClr val="CBD5E1"/>
                </a:solidFill>
                <a:latin typeface="Plus Jakarta Sans"/>
              </a:rPr>
              <a:t>SR</a:t>
            </a:r>
            <a:r>
              <a:rPr sz="1625" b="1" i="0" u="none">
                <a:solidFill>
                  <a:srgbClr val="CBD5E1"/>
                </a:solidFill>
                <a:latin typeface="Plus Jakarta Sans"/>
              </a:rPr>
              <a:t>Baseline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28750" y="3775471"/>
            <a:ext cx="5700712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Plus Jakarta Sans"/>
              </a:rPr>
              <a:t>Design do MDP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28750" y="4023121"/>
            <a:ext cx="44386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64748B"/>
                </a:solidFill>
                <a:latin typeface="Plus Jakarta Sans"/>
              </a:rPr>
              <a:t>Número de ativos, dimensão do estado e </a:t>
            </a:r>
            <a:r>
              <a:rPr sz="1125" b="0" i="1" u="none">
                <a:solidFill>
                  <a:srgbClr val="64748B"/>
                </a:solidFill>
                <a:latin typeface="Plus Jakarta Sans"/>
              </a:rPr>
              <a:t>reward shaping</a:t>
            </a:r>
            <a:r>
              <a:rPr sz="1125" b="0" i="0" u="none">
                <a:solidFill>
                  <a:srgbClr val="64748B"/>
                </a:solidFill>
                <a:latin typeface="Plus Jakarta Sans"/>
              </a:rPr>
              <a:t> afetam o ganho relativo?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19925" y="3775471"/>
            <a:ext cx="5172075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Plus Jakarta Sans"/>
              </a:rPr>
              <a:t>Treinamento e Regimes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19925" y="4023121"/>
            <a:ext cx="44196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64748B"/>
                </a:solidFill>
                <a:latin typeface="Plus Jakarta Sans"/>
              </a:rPr>
              <a:t>Períodos mais longos ou inclusão da crise de 2008 alteram o desempenho?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57325" y="5070871"/>
            <a:ext cx="5663207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Plus Jakarta Sans"/>
              </a:rPr>
              <a:t>Escolha do Algoritmo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57325" y="5318521"/>
            <a:ext cx="441007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64748B"/>
                </a:solidFill>
                <a:latin typeface="Plus Jakarta Sans"/>
              </a:rPr>
              <a:t>Existem diferenças estatisticamente significativas entre Policy Gradient e DQN?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29450" y="5070871"/>
            <a:ext cx="5162550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Plus Jakarta Sans"/>
              </a:rPr>
              <a:t>Realismo Experimental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29450" y="5318521"/>
            <a:ext cx="441007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64748B"/>
                </a:solidFill>
                <a:latin typeface="Plus Jakarta Sans"/>
              </a:rPr>
              <a:t>Premissas sobre slippage e custos refletem o ambiente de negociação real?</a:t>
            </a:r>
          </a:p>
        </p:txBody>
      </p:sp>
      <p:sp>
        <p:nvSpPr>
          <p:cNvPr id="36" name="TextBox 10">
            <a:extLst>
              <a:ext uri="{FF2B5EF4-FFF2-40B4-BE49-F238E27FC236}">
                <a16:creationId xmlns:a16="http://schemas.microsoft.com/office/drawing/2014/main" id="{78372BA8-F29E-5E09-B081-F8DBC978D0D4}"/>
              </a:ext>
            </a:extLst>
          </p:cNvPr>
          <p:cNvSpPr txBox="1"/>
          <p:nvPr/>
        </p:nvSpPr>
        <p:spPr>
          <a:xfrm>
            <a:off x="609600" y="6229350"/>
            <a:ext cx="610745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 dirty="0">
                <a:solidFill>
                  <a:srgbClr val="64748B"/>
                </a:solidFill>
                <a:latin typeface="Plus Jakarta Sans"/>
              </a:rPr>
              <a:t>Slide </a:t>
            </a:r>
            <a:r>
              <a:rPr lang="pt-BR" sz="1050" b="0" i="0" u="none" dirty="0">
                <a:solidFill>
                  <a:srgbClr val="64748B"/>
                </a:solidFill>
                <a:latin typeface="Plus Jakarta Sans"/>
              </a:rPr>
              <a:t>6</a:t>
            </a:r>
            <a:r>
              <a:rPr sz="1050" b="0" i="0" u="none" dirty="0">
                <a:solidFill>
                  <a:srgbClr val="64748B"/>
                </a:solidFill>
                <a:latin typeface="Plus Jakarta Sans"/>
              </a:rPr>
              <a:t>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5895975"/>
            <a:ext cx="10972800" cy="5048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6578142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1347787"/>
            <a:ext cx="3530500" cy="2805112"/>
          </a:xfrm>
          <a:prstGeom prst="roundRect">
            <a:avLst>
              <a:gd name="adj" fmla="val 4074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330600" y="1347787"/>
            <a:ext cx="3530649" cy="2805112"/>
          </a:xfrm>
          <a:prstGeom prst="roundRect">
            <a:avLst>
              <a:gd name="adj" fmla="val 4074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051750" y="1347787"/>
            <a:ext cx="3530500" cy="2805112"/>
          </a:xfrm>
          <a:prstGeom prst="roundRect">
            <a:avLst>
              <a:gd name="adj" fmla="val 4074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47725" y="3629025"/>
            <a:ext cx="1662112" cy="285750"/>
          </a:xfrm>
          <a:prstGeom prst="roundRect">
            <a:avLst>
              <a:gd name="adj" fmla="val 2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568725" y="3629025"/>
            <a:ext cx="1662112" cy="285750"/>
          </a:xfrm>
          <a:prstGeom prst="roundRect">
            <a:avLst>
              <a:gd name="adj" fmla="val 2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289875" y="3629025"/>
            <a:ext cx="1600200" cy="285750"/>
          </a:xfrm>
          <a:prstGeom prst="roundRect">
            <a:avLst>
              <a:gd name="adj" fmla="val 2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47725" y="2128837"/>
            <a:ext cx="3054250" cy="609600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568725" y="2128837"/>
            <a:ext cx="3054399" cy="609600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289875" y="2128837"/>
            <a:ext cx="3054250" cy="609600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09600" y="457200"/>
            <a:ext cx="115824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2563EB"/>
                </a:solidFill>
                <a:latin typeface="Plus Jakarta Sans"/>
              </a:rPr>
              <a:t>RESULTADOS EMPÍRICOS — PARTE 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714375"/>
            <a:ext cx="11582400" cy="4048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sz="2550" b="1" i="0" u="none">
                <a:solidFill>
                  <a:srgbClr val="0F172A"/>
                </a:solidFill>
                <a:latin typeface="Space Grotesk"/>
              </a:rPr>
              <a:t>O Design do MDP Melhora o Desempenho?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1075" y="3686175"/>
            <a:ext cx="1490662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Plus Jakarta Sans"/>
              </a:rPr>
              <a:t>NÃO SIGNIFICATIVO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2075" y="3686175"/>
            <a:ext cx="1490662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Plus Jakarta Sans"/>
              </a:rPr>
              <a:t>NÃO SIGNIFICATIVO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23225" y="3686175"/>
            <a:ext cx="14287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92400E"/>
                </a:solidFill>
                <a:latin typeface="Plus Jakarta Sans"/>
              </a:rPr>
              <a:t>TENDÊNCIA VISUAL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7725" y="1585912"/>
            <a:ext cx="3817813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4748B"/>
                </a:solidFill>
                <a:latin typeface="Plus Jakarta Sans"/>
              </a:rPr>
              <a:t>FIGURA 2(a)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7725" y="1795462"/>
            <a:ext cx="4008704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Dimensão do Estado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7725" y="2852737"/>
            <a:ext cx="314950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64748B"/>
                </a:solidFill>
                <a:latin typeface="Plus Jakarta Sans"/>
              </a:rPr>
              <a:t>Tendência positiva leve ao adicionar features (e.g. sentimento), mas sem significância estatística.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68725" y="1585912"/>
            <a:ext cx="3817999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4748B"/>
                </a:solidFill>
                <a:latin typeface="Plus Jakarta Sans"/>
              </a:rPr>
              <a:t>FIGURA 2(b)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68725" y="1795462"/>
            <a:ext cx="4008899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Número de Ativos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8725" y="2852737"/>
            <a:ext cx="3149649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64748B"/>
                </a:solidFill>
                <a:latin typeface="Plus Jakarta Sans"/>
              </a:rPr>
              <a:t>Aumento do espaço de ação em carteiras maiores não apresentou associação estatística conclusiva.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9875" y="1585912"/>
            <a:ext cx="3817813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4748B"/>
                </a:solidFill>
                <a:latin typeface="Plus Jakarta Sans"/>
              </a:rPr>
              <a:t>FIGURA 2(c)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89875" y="1795462"/>
            <a:ext cx="3902124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Reward Shaping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9875" y="2852737"/>
            <a:ext cx="314950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64748B"/>
                </a:solidFill>
                <a:latin typeface="Plus Jakarta Sans"/>
              </a:rPr>
              <a:t>Visualmente favorável a recompensas moldadas (Sharpe ratio ajustado), porém sem significância a 5%.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1075" y="2262187"/>
            <a:ext cx="3484438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34155"/>
                </a:solidFill>
                <a:latin typeface="Plus Jakarta Sans"/>
              </a:rPr>
              <a:t>Inclinação:</a:t>
            </a:r>
            <a:r>
              <a:rPr sz="1050" b="0" i="0" u="none">
                <a:solidFill>
                  <a:srgbClr val="334155"/>
                </a:solidFill>
                <a:latin typeface="Plus Jakarta Sans"/>
              </a:rPr>
              <a:t> 0,171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1075" y="2433637"/>
            <a:ext cx="3484438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DC2626"/>
                </a:solidFill>
                <a:latin typeface="Plus Jakarta Sans"/>
              </a:rPr>
              <a:t>p-valor = 0,499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02075" y="2262187"/>
            <a:ext cx="3484624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34155"/>
                </a:solidFill>
                <a:latin typeface="Plus Jakarta Sans"/>
              </a:rPr>
              <a:t>Inclinação:</a:t>
            </a:r>
            <a:r>
              <a:rPr sz="1050" b="0" i="0" u="none">
                <a:solidFill>
                  <a:srgbClr val="334155"/>
                </a:solidFill>
                <a:latin typeface="Plus Jakarta Sans"/>
              </a:rPr>
              <a:t> 0,010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02075" y="2433637"/>
            <a:ext cx="3484624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DC2626"/>
                </a:solidFill>
                <a:latin typeface="Plus Jakarta Sans"/>
              </a:rPr>
              <a:t>p-valor = 0,362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23225" y="2262187"/>
            <a:ext cx="3484438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34155"/>
                </a:solidFill>
                <a:latin typeface="Plus Jakarta Sans"/>
              </a:rPr>
              <a:t>Comparativo:</a:t>
            </a:r>
            <a:r>
              <a:rPr sz="1050" b="0" i="0" u="none">
                <a:solidFill>
                  <a:srgbClr val="334155"/>
                </a:solidFill>
                <a:latin typeface="Plus Jakarta Sans"/>
              </a:rPr>
              <a:t> Return vs. Shaped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23225" y="2433637"/>
            <a:ext cx="3484438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Plus Jakarta Sans"/>
              </a:rPr>
              <a:t>p-valor = 0,120</a:t>
            </a:r>
          </a:p>
        </p:txBody>
      </p:sp>
      <p:sp>
        <p:nvSpPr>
          <p:cNvPr id="36" name="TextBox 10">
            <a:extLst>
              <a:ext uri="{FF2B5EF4-FFF2-40B4-BE49-F238E27FC236}">
                <a16:creationId xmlns:a16="http://schemas.microsoft.com/office/drawing/2014/main" id="{02CFF565-AD31-AC0B-D483-9A1250940748}"/>
              </a:ext>
            </a:extLst>
          </p:cNvPr>
          <p:cNvSpPr txBox="1"/>
          <p:nvPr/>
        </p:nvSpPr>
        <p:spPr>
          <a:xfrm>
            <a:off x="609600" y="6650264"/>
            <a:ext cx="610745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 dirty="0">
                <a:solidFill>
                  <a:srgbClr val="64748B"/>
                </a:solidFill>
                <a:latin typeface="Plus Jakarta Sans"/>
              </a:rPr>
              <a:t>Slide </a:t>
            </a:r>
            <a:r>
              <a:rPr lang="pt-BR" sz="1050" b="0" i="0" u="none" dirty="0">
                <a:solidFill>
                  <a:srgbClr val="64748B"/>
                </a:solidFill>
                <a:latin typeface="Plus Jakarta Sans"/>
              </a:rPr>
              <a:t>7</a:t>
            </a:r>
            <a:r>
              <a:rPr sz="1050" b="0" i="0" u="none" dirty="0">
                <a:solidFill>
                  <a:srgbClr val="64748B"/>
                </a:solidFill>
                <a:latin typeface="Plus Jakarta Sans"/>
              </a:rPr>
              <a:t> / 11</a:t>
            </a:r>
          </a:p>
        </p:txBody>
      </p:sp>
      <p:pic>
        <p:nvPicPr>
          <p:cNvPr id="35" name="Imagem 34">
            <a:extLst>
              <a:ext uri="{FF2B5EF4-FFF2-40B4-BE49-F238E27FC236}">
                <a16:creationId xmlns:a16="http://schemas.microsoft.com/office/drawing/2014/main" id="{86115B28-37F4-D58C-846E-3716883355E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915" b="-1"/>
          <a:stretch>
            <a:fillRect/>
          </a:stretch>
        </p:blipFill>
        <p:spPr>
          <a:xfrm>
            <a:off x="752475" y="4324349"/>
            <a:ext cx="3244750" cy="1960533"/>
          </a:xfrm>
          <a:prstGeom prst="rect">
            <a:avLst/>
          </a:prstGeom>
        </p:spPr>
      </p:pic>
      <p:pic>
        <p:nvPicPr>
          <p:cNvPr id="38" name="Imagem 37">
            <a:extLst>
              <a:ext uri="{FF2B5EF4-FFF2-40B4-BE49-F238E27FC236}">
                <a16:creationId xmlns:a16="http://schemas.microsoft.com/office/drawing/2014/main" id="{903CA005-EF76-286C-E613-C994A6A27E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1174" y="4277148"/>
            <a:ext cx="3149500" cy="1989880"/>
          </a:xfrm>
          <a:prstGeom prst="rect">
            <a:avLst/>
          </a:prstGeom>
        </p:spPr>
      </p:pic>
      <p:pic>
        <p:nvPicPr>
          <p:cNvPr id="40" name="Imagem 39">
            <a:extLst>
              <a:ext uri="{FF2B5EF4-FFF2-40B4-BE49-F238E27FC236}">
                <a16:creationId xmlns:a16="http://schemas.microsoft.com/office/drawing/2014/main" id="{E6D387F9-F403-6DE1-4889-1ECAE379D8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7438" y="4256261"/>
            <a:ext cx="3084659" cy="19898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6067425"/>
            <a:ext cx="10972800" cy="3333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6475386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1347788"/>
            <a:ext cx="3530500" cy="2362200"/>
          </a:xfrm>
          <a:prstGeom prst="roundRect">
            <a:avLst>
              <a:gd name="adj" fmla="val 4395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330600" y="1347788"/>
            <a:ext cx="3530649" cy="2362200"/>
          </a:xfrm>
          <a:prstGeom prst="roundRect">
            <a:avLst>
              <a:gd name="adj" fmla="val 4395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051750" y="1347787"/>
            <a:ext cx="3530500" cy="2362201"/>
          </a:xfrm>
          <a:prstGeom prst="roundRect">
            <a:avLst>
              <a:gd name="adj" fmla="val 4395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47725" y="2128837"/>
            <a:ext cx="3054250" cy="609600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568725" y="2128837"/>
            <a:ext cx="3054399" cy="609600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289875" y="2128837"/>
            <a:ext cx="3054250" cy="609600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9600" y="457200"/>
            <a:ext cx="115824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2563EB"/>
                </a:solidFill>
                <a:latin typeface="Plus Jakarta Sans"/>
              </a:rPr>
              <a:t>RESULTADOS EMPÍRICOS — PARTE II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14375"/>
            <a:ext cx="11582400" cy="4048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sz="2550" b="1" i="0" u="none">
                <a:solidFill>
                  <a:srgbClr val="0F172A"/>
                </a:solidFill>
                <a:latin typeface="Space Grotesk"/>
              </a:rPr>
              <a:t>Mais Treinamento ou Outro Algoritmo Resolve?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725" y="1585912"/>
            <a:ext cx="3817813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4748B"/>
                </a:solidFill>
                <a:latin typeface="Plus Jakarta Sans"/>
              </a:rPr>
              <a:t>FIGURA 2(d)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725" y="1795462"/>
            <a:ext cx="4008704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Duração do Treino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725" y="2852737"/>
            <a:ext cx="314950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64748B"/>
                </a:solidFill>
                <a:latin typeface="Plus Jakarta Sans"/>
              </a:rPr>
              <a:t>Anos adicionais no histórico de treino não garantem maior RL Premium, devido à não-estacionariedade dos dados.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8725" y="1585912"/>
            <a:ext cx="3817999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4748B"/>
                </a:solidFill>
                <a:latin typeface="Plus Jakarta Sans"/>
              </a:rPr>
              <a:t>FIGURA 2(e)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8725" y="1795462"/>
            <a:ext cx="4008899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Grande Recessão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68725" y="2852737"/>
            <a:ext cx="3149649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64748B"/>
                </a:solidFill>
                <a:latin typeface="Plus Jakarta Sans"/>
              </a:rPr>
              <a:t>Não foi identificada diferença estatisticamente relevante na performance de agentes treinados com períodos de recessão.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9875" y="1585912"/>
            <a:ext cx="3817813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4748B"/>
                </a:solidFill>
                <a:latin typeface="Plus Jakarta Sans"/>
              </a:rPr>
              <a:t>FIGURA 2(f)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9875" y="1795462"/>
            <a:ext cx="3902124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PG vs. DQN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9875" y="2852737"/>
            <a:ext cx="314950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64748B"/>
                </a:solidFill>
                <a:latin typeface="Plus Jakarta Sans"/>
              </a:rPr>
              <a:t>Ausência de diferença estatística na amostra analisada. PG não é intrinsecamente superior ao DQN na literatura examinada.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1075" y="2262187"/>
            <a:ext cx="3484438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34155"/>
                </a:solidFill>
                <a:latin typeface="Plus Jakarta Sans"/>
              </a:rPr>
              <a:t>Inclinação:</a:t>
            </a:r>
            <a:r>
              <a:rPr sz="1050" b="0" i="0" u="none">
                <a:solidFill>
                  <a:srgbClr val="334155"/>
                </a:solidFill>
                <a:latin typeface="Plus Jakarta Sans"/>
              </a:rPr>
              <a:t> 0,023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1075" y="2433637"/>
            <a:ext cx="3484438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DC2626"/>
                </a:solidFill>
                <a:latin typeface="Plus Jakarta Sans"/>
              </a:rPr>
              <a:t>p-valor = 0,591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2075" y="2262187"/>
            <a:ext cx="3484624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34155"/>
                </a:solidFill>
                <a:latin typeface="Plus Jakarta Sans"/>
              </a:rPr>
              <a:t>Inclusão de Crise (2008):</a:t>
            </a:r>
            <a:r>
              <a:rPr sz="1050" b="0" i="0" u="none">
                <a:solidFill>
                  <a:srgbClr val="334155"/>
                </a:solidFill>
                <a:latin typeface="Plus Jakarta Sans"/>
              </a:rPr>
              <a:t> SIM / NÃO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2075" y="2433637"/>
            <a:ext cx="3484624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DC2626"/>
                </a:solidFill>
                <a:latin typeface="Plus Jakarta Sans"/>
              </a:rPr>
              <a:t>p-valor = 0,604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23225" y="2262187"/>
            <a:ext cx="3484438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34155"/>
                </a:solidFill>
                <a:latin typeface="Plus Jakarta Sans"/>
              </a:rPr>
              <a:t>Comparativo:</a:t>
            </a:r>
            <a:r>
              <a:rPr sz="1050" b="0" i="0" u="none">
                <a:solidFill>
                  <a:srgbClr val="334155"/>
                </a:solidFill>
                <a:latin typeface="Plus Jakarta Sans"/>
              </a:rPr>
              <a:t> Policy Gradient vs DQN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23225" y="2433637"/>
            <a:ext cx="3484438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DC2626"/>
                </a:solidFill>
                <a:latin typeface="Plus Jakarta Sans"/>
              </a:rPr>
              <a:t>p-valor = 0,640</a:t>
            </a:r>
          </a:p>
        </p:txBody>
      </p:sp>
      <p:sp>
        <p:nvSpPr>
          <p:cNvPr id="30" name="TextBox 10">
            <a:extLst>
              <a:ext uri="{FF2B5EF4-FFF2-40B4-BE49-F238E27FC236}">
                <a16:creationId xmlns:a16="http://schemas.microsoft.com/office/drawing/2014/main" id="{D254FDCD-9E32-098C-4BCF-280A5C519775}"/>
              </a:ext>
            </a:extLst>
          </p:cNvPr>
          <p:cNvSpPr txBox="1"/>
          <p:nvPr/>
        </p:nvSpPr>
        <p:spPr>
          <a:xfrm>
            <a:off x="609600" y="6637311"/>
            <a:ext cx="610745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 dirty="0">
                <a:solidFill>
                  <a:srgbClr val="64748B"/>
                </a:solidFill>
                <a:latin typeface="Plus Jakarta Sans"/>
              </a:rPr>
              <a:t>Slide </a:t>
            </a:r>
            <a:r>
              <a:rPr lang="pt-BR" sz="1050" b="0" i="0" u="none" dirty="0">
                <a:solidFill>
                  <a:srgbClr val="64748B"/>
                </a:solidFill>
                <a:latin typeface="Plus Jakarta Sans"/>
              </a:rPr>
              <a:t>8</a:t>
            </a:r>
            <a:r>
              <a:rPr sz="1050" b="0" i="0" u="none" dirty="0">
                <a:solidFill>
                  <a:srgbClr val="64748B"/>
                </a:solidFill>
                <a:latin typeface="Plus Jakarta Sans"/>
              </a:rPr>
              <a:t> / 11</a:t>
            </a:r>
          </a:p>
        </p:txBody>
      </p:sp>
      <p:pic>
        <p:nvPicPr>
          <p:cNvPr id="29" name="Imagem 28">
            <a:extLst>
              <a:ext uri="{FF2B5EF4-FFF2-40B4-BE49-F238E27FC236}">
                <a16:creationId xmlns:a16="http://schemas.microsoft.com/office/drawing/2014/main" id="{AD359360-3579-0BC5-AD61-F027FDCA61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114" y="3951778"/>
            <a:ext cx="3601472" cy="2248053"/>
          </a:xfrm>
          <a:prstGeom prst="rect">
            <a:avLst/>
          </a:prstGeom>
        </p:spPr>
      </p:pic>
      <p:pic>
        <p:nvPicPr>
          <p:cNvPr id="32" name="Imagem 31">
            <a:extLst>
              <a:ext uri="{FF2B5EF4-FFF2-40B4-BE49-F238E27FC236}">
                <a16:creationId xmlns:a16="http://schemas.microsoft.com/office/drawing/2014/main" id="{331C07D8-8013-D3A7-0080-44A83B9B30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3413" y="3957637"/>
            <a:ext cx="3601472" cy="2245270"/>
          </a:xfrm>
          <a:prstGeom prst="rect">
            <a:avLst/>
          </a:prstGeom>
        </p:spPr>
      </p:pic>
      <p:pic>
        <p:nvPicPr>
          <p:cNvPr id="34" name="Imagem 33">
            <a:extLst>
              <a:ext uri="{FF2B5EF4-FFF2-40B4-BE49-F238E27FC236}">
                <a16:creationId xmlns:a16="http://schemas.microsoft.com/office/drawing/2014/main" id="{DBDECAB9-AACE-016B-C5C2-8944ED0D25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1750" y="3956580"/>
            <a:ext cx="3387625" cy="218704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6067425"/>
            <a:ext cx="10972800" cy="3333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6067425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1347787"/>
            <a:ext cx="4883646" cy="2724150"/>
          </a:xfrm>
          <a:prstGeom prst="roundRect">
            <a:avLst>
              <a:gd name="adj" fmla="val 4195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47725" y="3586162"/>
            <a:ext cx="440739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721846" y="1347787"/>
            <a:ext cx="5860405" cy="1173956"/>
          </a:xfrm>
          <a:prstGeom prst="roundRect">
            <a:avLst>
              <a:gd name="adj" fmla="val 973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721846" y="2932509"/>
            <a:ext cx="5860405" cy="11430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721846" y="2512218"/>
            <a:ext cx="586040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721846" y="1347787"/>
            <a:ext cx="586040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721846" y="1347787"/>
            <a:ext cx="47625" cy="1173956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1572726" y="1347787"/>
            <a:ext cx="9525" cy="117395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721846" y="4065984"/>
            <a:ext cx="586040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721846" y="2932509"/>
            <a:ext cx="586040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721846" y="2932509"/>
            <a:ext cx="47625" cy="11430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1572726" y="2932509"/>
            <a:ext cx="9525" cy="1143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09600" y="457200"/>
            <a:ext cx="115824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2563EB"/>
                </a:solidFill>
                <a:latin typeface="Plus Jakarta Sans"/>
              </a:rPr>
              <a:t>VALIDADE DE SIMULAÇÃO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714375"/>
            <a:ext cx="11582400" cy="4048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sz="2550" b="1" i="0" u="none">
                <a:solidFill>
                  <a:srgbClr val="0F172A"/>
                </a:solidFill>
                <a:latin typeface="Space Grotesk"/>
              </a:rPr>
              <a:t>Um Bom Backtest Representa o Mercado Real?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7725" y="3681412"/>
            <a:ext cx="4502646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0F172A"/>
                </a:solidFill>
                <a:latin typeface="Plus Jakarta Sans"/>
              </a:rPr>
              <a:t>Fonte: Bai et al. (2025), Figura 3, p. 222.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7725" y="1585912"/>
            <a:ext cx="1439497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 dirty="0" err="1">
                <a:solidFill>
                  <a:srgbClr val="2563EB"/>
                </a:solidFill>
                <a:latin typeface="Plus Jakarta Sans"/>
              </a:rPr>
              <a:t>Mapeamento</a:t>
            </a:r>
            <a:r>
              <a:rPr sz="975" b="1" i="0" u="none" dirty="0">
                <a:solidFill>
                  <a:srgbClr val="2563EB"/>
                </a:solidFill>
                <a:latin typeface="Plus Jakarta Sans"/>
              </a:rPr>
              <a:t> de </a:t>
            </a:r>
            <a:r>
              <a:rPr sz="975" b="1" i="0" u="none" dirty="0" err="1">
                <a:solidFill>
                  <a:srgbClr val="2563EB"/>
                </a:solidFill>
                <a:latin typeface="Plus Jakarta Sans"/>
              </a:rPr>
              <a:t>Premissas</a:t>
            </a:r>
            <a:endParaRPr sz="975" b="1" i="0" u="none" dirty="0">
              <a:solidFill>
                <a:srgbClr val="2563EB"/>
              </a:solidFill>
              <a:latin typeface="Plus Jakarta San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979021" y="1566862"/>
            <a:ext cx="6212978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65F46"/>
                </a:solidFill>
                <a:latin typeface="Plus Jakarta Sans"/>
              </a:rPr>
              <a:t>Exo-MDP e Replay Histórico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79021" y="1843087"/>
            <a:ext cx="5479405" cy="4595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334155"/>
                </a:solidFill>
                <a:latin typeface="Plus Jakarta Sans"/>
              </a:rPr>
              <a:t>Validade em Portfolio Management:</a:t>
            </a:r>
            <a:r>
              <a:rPr sz="1125" b="0" i="0" u="none">
                <a:solidFill>
                  <a:srgbClr val="334155"/>
                </a:solidFill>
                <a:latin typeface="Plus Jakarta Sans"/>
              </a:rPr>
              <a:t> Válido quando o mercado é aproximadamente exógeno às ações do agente (</a:t>
            </a:r>
            <a:r>
              <a:rPr sz="1125" b="0" i="1" u="none">
                <a:solidFill>
                  <a:srgbClr val="334155"/>
                </a:solidFill>
                <a:latin typeface="Plus Jakarta Sans"/>
              </a:rPr>
              <a:t>P(x</a:t>
            </a:r>
            <a:r>
              <a:rPr sz="937" b="0" i="1" u="none">
                <a:solidFill>
                  <a:srgbClr val="334155"/>
                </a:solidFill>
                <a:latin typeface="Plus Jakarta Sans"/>
              </a:rPr>
              <a:t>t+1</a:t>
            </a:r>
            <a:r>
              <a:rPr sz="1125" b="0" i="1" u="none">
                <a:solidFill>
                  <a:srgbClr val="334155"/>
                </a:solidFill>
                <a:latin typeface="Plus Jakarta Sans"/>
              </a:rPr>
              <a:t> | s</a:t>
            </a:r>
            <a:r>
              <a:rPr sz="937" b="0" i="1" u="none">
                <a:solidFill>
                  <a:srgbClr val="334155"/>
                </a:solidFill>
                <a:latin typeface="Plus Jakarta Sans"/>
              </a:rPr>
              <a:t>t</a:t>
            </a:r>
            <a:r>
              <a:rPr sz="1125" b="0" i="1" u="none">
                <a:solidFill>
                  <a:srgbClr val="334155"/>
                </a:solidFill>
                <a:latin typeface="Plus Jakarta Sans"/>
              </a:rPr>
              <a:t>, a</a:t>
            </a:r>
            <a:r>
              <a:rPr sz="937" b="0" i="1" u="none">
                <a:solidFill>
                  <a:srgbClr val="334155"/>
                </a:solidFill>
                <a:latin typeface="Plus Jakarta Sans"/>
              </a:rPr>
              <a:t>t</a:t>
            </a:r>
            <a:r>
              <a:rPr sz="1125" b="0" i="1" u="none">
                <a:solidFill>
                  <a:srgbClr val="334155"/>
                </a:solidFill>
                <a:latin typeface="Plus Jakarta Sans"/>
              </a:rPr>
              <a:t>) = P(x</a:t>
            </a:r>
            <a:r>
              <a:rPr sz="937" b="0" i="1" u="none">
                <a:solidFill>
                  <a:srgbClr val="334155"/>
                </a:solidFill>
                <a:latin typeface="Plus Jakarta Sans"/>
              </a:rPr>
              <a:t>t+1</a:t>
            </a:r>
            <a:r>
              <a:rPr sz="1125" b="0" i="1" u="none">
                <a:solidFill>
                  <a:srgbClr val="334155"/>
                </a:solidFill>
                <a:latin typeface="Plus Jakarta Sans"/>
              </a:rPr>
              <a:t> | x</a:t>
            </a:r>
            <a:r>
              <a:rPr sz="937" b="0" i="1" u="none">
                <a:solidFill>
                  <a:srgbClr val="334155"/>
                </a:solidFill>
                <a:latin typeface="Plus Jakarta Sans"/>
              </a:rPr>
              <a:t>t</a:t>
            </a:r>
            <a:r>
              <a:rPr sz="1125" b="0" i="1" u="none">
                <a:solidFill>
                  <a:srgbClr val="334155"/>
                </a:solidFill>
                <a:latin typeface="Plus Jakarta Sans"/>
              </a:rPr>
              <a:t>)</a:t>
            </a:r>
            <a:r>
              <a:rPr sz="1125" b="0" i="0" u="none">
                <a:solidFill>
                  <a:srgbClr val="334155"/>
                </a:solidFill>
                <a:latin typeface="Plus Jakarta Sans"/>
              </a:rPr>
              <a:t>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79021" y="3151584"/>
            <a:ext cx="6212978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991B1B"/>
                </a:solidFill>
                <a:latin typeface="Plus Jakarta Sans"/>
              </a:rPr>
              <a:t>Falha </a:t>
            </a:r>
            <a:r>
              <a:rPr sz="1350" b="1" i="0" u="none" dirty="0" err="1">
                <a:solidFill>
                  <a:srgbClr val="991B1B"/>
                </a:solidFill>
                <a:latin typeface="Plus Jakarta Sans"/>
              </a:rPr>
              <a:t>em</a:t>
            </a:r>
            <a:r>
              <a:rPr sz="1350" b="1" i="0" u="none" dirty="0">
                <a:solidFill>
                  <a:srgbClr val="991B1B"/>
                </a:solidFill>
                <a:latin typeface="Plus Jakarta Sans"/>
              </a:rPr>
              <a:t> Optimal Execution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79021" y="3427809"/>
            <a:ext cx="547940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 dirty="0" err="1">
                <a:solidFill>
                  <a:srgbClr val="334155"/>
                </a:solidFill>
                <a:latin typeface="Plus Jakarta Sans"/>
              </a:rPr>
              <a:t>Inadequação</a:t>
            </a:r>
            <a:r>
              <a:rPr sz="1125" b="1" i="0" u="none" dirty="0">
                <a:solidFill>
                  <a:srgbClr val="334155"/>
                </a:solidFill>
                <a:latin typeface="Plus Jakarta Sans"/>
              </a:rPr>
              <a:t> de Replay Simples:</a:t>
            </a:r>
            <a:r>
              <a:rPr sz="1125" b="0" i="0" u="none" dirty="0">
                <a:solidFill>
                  <a:srgbClr val="334155"/>
                </a:solidFill>
                <a:latin typeface="Plus Jakarta Sans"/>
              </a:rPr>
              <a:t> </a:t>
            </a:r>
            <a:r>
              <a:rPr sz="1125" b="0" i="0" u="none" dirty="0" err="1">
                <a:solidFill>
                  <a:srgbClr val="334155"/>
                </a:solidFill>
                <a:latin typeface="Plus Jakarta Sans"/>
              </a:rPr>
              <a:t>Operações</a:t>
            </a:r>
            <a:r>
              <a:rPr sz="1125" b="0" i="0" u="none" dirty="0">
                <a:solidFill>
                  <a:srgbClr val="334155"/>
                </a:solidFill>
                <a:latin typeface="Plus Jakarta Sans"/>
              </a:rPr>
              <a:t> do </a:t>
            </a:r>
            <a:r>
              <a:rPr sz="1125" b="0" i="0" u="none" dirty="0" err="1">
                <a:solidFill>
                  <a:srgbClr val="334155"/>
                </a:solidFill>
                <a:latin typeface="Plus Jakarta Sans"/>
              </a:rPr>
              <a:t>agente</a:t>
            </a:r>
            <a:r>
              <a:rPr sz="1125" b="0" i="0" u="none" dirty="0">
                <a:solidFill>
                  <a:srgbClr val="334155"/>
                </a:solidFill>
                <a:latin typeface="Plus Jakarta Sans"/>
              </a:rPr>
              <a:t> alteram o mercado (</a:t>
            </a:r>
            <a:r>
              <a:rPr sz="1125" b="0" i="1" u="none" dirty="0">
                <a:solidFill>
                  <a:srgbClr val="334155"/>
                </a:solidFill>
                <a:latin typeface="Plus Jakarta Sans"/>
              </a:rPr>
              <a:t>market impact</a:t>
            </a:r>
            <a:r>
              <a:rPr sz="1125" b="0" i="0" u="none" dirty="0">
                <a:solidFill>
                  <a:srgbClr val="334155"/>
                </a:solidFill>
                <a:latin typeface="Plus Jakarta Sans"/>
              </a:rPr>
              <a:t>). Exige </a:t>
            </a:r>
            <a:r>
              <a:rPr sz="1125" b="0" i="0" u="none" dirty="0" err="1">
                <a:solidFill>
                  <a:srgbClr val="334155"/>
                </a:solidFill>
                <a:latin typeface="Plus Jakarta Sans"/>
              </a:rPr>
              <a:t>simuladores</a:t>
            </a:r>
            <a:r>
              <a:rPr sz="1125" b="0" i="0" u="none" dirty="0">
                <a:solidFill>
                  <a:srgbClr val="334155"/>
                </a:solidFill>
                <a:latin typeface="Plus Jakarta Sans"/>
              </a:rPr>
              <a:t> </a:t>
            </a:r>
            <a:r>
              <a:rPr sz="1125" b="0" i="0" u="none" dirty="0" err="1">
                <a:solidFill>
                  <a:srgbClr val="334155"/>
                </a:solidFill>
                <a:latin typeface="Plus Jakarta Sans"/>
              </a:rPr>
              <a:t>multiagente</a:t>
            </a:r>
            <a:r>
              <a:rPr sz="1125" b="0" i="0" u="none" dirty="0">
                <a:solidFill>
                  <a:srgbClr val="334155"/>
                </a:solidFill>
                <a:latin typeface="Plus Jakarta Sans"/>
              </a:rPr>
              <a:t> </a:t>
            </a:r>
            <a:r>
              <a:rPr sz="1125" b="0" i="0" u="none" dirty="0" err="1">
                <a:solidFill>
                  <a:srgbClr val="334155"/>
                </a:solidFill>
                <a:latin typeface="Plus Jakarta Sans"/>
              </a:rPr>
              <a:t>fiéis</a:t>
            </a:r>
            <a:r>
              <a:rPr sz="1125" b="0" i="0" u="none" dirty="0">
                <a:solidFill>
                  <a:srgbClr val="334155"/>
                </a:solidFill>
                <a:latin typeface="Plus Jakarta Sans"/>
              </a:rPr>
              <a:t> </a:t>
            </a:r>
            <a:r>
              <a:rPr sz="1125" b="0" i="0" u="none" dirty="0" err="1">
                <a:solidFill>
                  <a:srgbClr val="334155"/>
                </a:solidFill>
                <a:latin typeface="Plus Jakarta Sans"/>
              </a:rPr>
              <a:t>como</a:t>
            </a:r>
            <a:r>
              <a:rPr sz="1125" b="0" i="0" u="none" dirty="0">
                <a:solidFill>
                  <a:srgbClr val="334155"/>
                </a:solidFill>
                <a:latin typeface="Plus Jakarta Sans"/>
              </a:rPr>
              <a:t> ABIDES.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7725" y="1833562"/>
            <a:ext cx="550924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Slippage Considerado: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7725" y="2014537"/>
            <a:ext cx="2156231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 dirty="0">
                <a:solidFill>
                  <a:srgbClr val="DC2626"/>
                </a:solidFill>
                <a:latin typeface="Plus Jakarta Sans"/>
              </a:rPr>
              <a:t>~</a:t>
            </a:r>
            <a:r>
              <a:rPr lang="pt-BR" sz="2400" b="1" i="0" u="none" dirty="0">
                <a:solidFill>
                  <a:srgbClr val="DC2626"/>
                </a:solidFill>
                <a:latin typeface="Plus Jakarta Sans"/>
              </a:rPr>
              <a:t>80</a:t>
            </a:r>
            <a:r>
              <a:rPr sz="2400" b="1" i="0" u="none" dirty="0">
                <a:solidFill>
                  <a:srgbClr val="DC2626"/>
                </a:solidFill>
                <a:latin typeface="Plus Jakarta Sans"/>
              </a:rPr>
              <a:t>% dos </a:t>
            </a:r>
            <a:r>
              <a:rPr sz="2400" b="1" i="0" u="none" dirty="0" err="1">
                <a:solidFill>
                  <a:srgbClr val="DC2626"/>
                </a:solidFill>
                <a:latin typeface="Plus Jakarta Sans"/>
              </a:rPr>
              <a:t>artigos</a:t>
            </a:r>
            <a:endParaRPr sz="2400" b="1" i="0" u="none" dirty="0">
              <a:solidFill>
                <a:srgbClr val="DC2626"/>
              </a:solidFill>
              <a:latin typeface="Plus Jakarta San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47725" y="2395537"/>
            <a:ext cx="550924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Assumem slippage zero ou omitem o tratamento.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725" y="2738437"/>
            <a:ext cx="550924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Custos de Transação: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7725" y="2919412"/>
            <a:ext cx="5509245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D97706"/>
                </a:solidFill>
                <a:latin typeface="Plus Jakarta Sans"/>
              </a:rPr>
              <a:t>0,2% – 0,3%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7725" y="3300412"/>
            <a:ext cx="550924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Faixa padrão na literatura, porém variável na prática.</a:t>
            </a:r>
          </a:p>
        </p:txBody>
      </p:sp>
      <p:sp>
        <p:nvSpPr>
          <p:cNvPr id="33" name="TextBox 10">
            <a:extLst>
              <a:ext uri="{FF2B5EF4-FFF2-40B4-BE49-F238E27FC236}">
                <a16:creationId xmlns:a16="http://schemas.microsoft.com/office/drawing/2014/main" id="{6084D871-6735-6D29-9331-33272C7B37A4}"/>
              </a:ext>
            </a:extLst>
          </p:cNvPr>
          <p:cNvSpPr txBox="1"/>
          <p:nvPr/>
        </p:nvSpPr>
        <p:spPr>
          <a:xfrm>
            <a:off x="609600" y="6229350"/>
            <a:ext cx="610745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 dirty="0">
                <a:solidFill>
                  <a:srgbClr val="64748B"/>
                </a:solidFill>
                <a:latin typeface="Plus Jakarta Sans"/>
              </a:rPr>
              <a:t>Slide </a:t>
            </a:r>
            <a:r>
              <a:rPr lang="pt-BR" sz="1050" b="0" i="0" u="none" dirty="0">
                <a:solidFill>
                  <a:srgbClr val="64748B"/>
                </a:solidFill>
                <a:latin typeface="Plus Jakarta Sans"/>
              </a:rPr>
              <a:t>9</a:t>
            </a:r>
            <a:r>
              <a:rPr sz="1050" b="0" i="0" u="none" dirty="0">
                <a:solidFill>
                  <a:srgbClr val="64748B"/>
                </a:solidFill>
                <a:latin typeface="Plus Jakarta Sans"/>
              </a:rPr>
              <a:t>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6067425"/>
            <a:ext cx="10972800" cy="3333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4024312"/>
            <a:ext cx="10972800" cy="457200"/>
          </a:xfrm>
          <a:prstGeom prst="roundRect">
            <a:avLst>
              <a:gd name="adj" fmla="val 16666"/>
            </a:avLst>
          </a:prstGeom>
          <a:solidFill>
            <a:srgbClr val="FFFBEC"/>
          </a:solidFill>
          <a:ln w="9525">
            <a:solidFill>
              <a:srgbClr val="FCD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6067425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81025" y="1347787"/>
            <a:ext cx="5372100" cy="2486025"/>
          </a:xfrm>
          <a:prstGeom prst="roundRect">
            <a:avLst>
              <a:gd name="adj" fmla="val 459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210300" y="1347787"/>
            <a:ext cx="5372100" cy="2486025"/>
          </a:xfrm>
          <a:prstGeom prst="roundRect">
            <a:avLst>
              <a:gd name="adj" fmla="val 459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9600" y="3824287"/>
            <a:ext cx="53721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9600" y="1347787"/>
            <a:ext cx="5372100" cy="47625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09600" y="1347787"/>
            <a:ext cx="9525" cy="24860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72175" y="1347787"/>
            <a:ext cx="9525" cy="24860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0300" y="3824287"/>
            <a:ext cx="53721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0300" y="1347787"/>
            <a:ext cx="5372100" cy="4762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0300" y="1347787"/>
            <a:ext cx="9525" cy="24860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1572875" y="1347787"/>
            <a:ext cx="9525" cy="24860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1638300"/>
            <a:ext cx="180975" cy="2095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8425" y="1638300"/>
            <a:ext cx="266700" cy="2095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09600" y="457200"/>
            <a:ext cx="115824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2563EB"/>
                </a:solidFill>
                <a:latin typeface="Plus Jakarta Sans"/>
              </a:rPr>
              <a:t>DIAGNÓSTICO DA LITERATURA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714375"/>
            <a:ext cx="11582400" cy="4048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sz="2550" b="1" i="0" u="none">
                <a:solidFill>
                  <a:srgbClr val="0F172A"/>
                </a:solidFill>
                <a:latin typeface="Space Grotesk"/>
              </a:rPr>
              <a:t>O que Ainda Impede a Adoção Robusta de RL?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9150" y="4157662"/>
            <a:ext cx="1064895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78350F"/>
                </a:solidFill>
                <a:latin typeface="Plus Jakarta Sans"/>
              </a:rPr>
              <a:t>Ressalva da Meta-Análise:</a:t>
            </a:r>
            <a:r>
              <a:rPr sz="1050" b="0" i="0" u="none">
                <a:solidFill>
                  <a:srgbClr val="78350F"/>
                </a:solidFill>
                <a:latin typeface="Plus Jakarta Sans"/>
              </a:rPr>
              <a:t> Os autores ressaltam que os estudos revisados possuem heterogeneidade e potenciais variáveis de confusão não controladas.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1624012"/>
            <a:ext cx="3125390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Peculiaridades dos Dados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2025" y="2016933"/>
            <a:ext cx="762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 dirty="0">
                <a:solidFill>
                  <a:srgbClr val="334155"/>
                </a:solidFill>
                <a:latin typeface="Plus Jakarta Sans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8225" y="1995487"/>
            <a:ext cx="5881687" cy="228600"/>
          </a:xfrm>
          <a:prstGeom prst="rect">
            <a:avLst/>
          </a:prstGeom>
          <a:noFill/>
        </p:spPr>
        <p:txBody>
          <a:bodyPr wrap="none" lIns="7620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1" i="0" u="none">
                <a:solidFill>
                  <a:srgbClr val="334155"/>
                </a:solidFill>
                <a:latin typeface="Plus Jakarta Sans"/>
              </a:rPr>
              <a:t>Alta Volatilidade &amp; Ruído:</a:t>
            </a:r>
            <a:r>
              <a:rPr sz="1125" b="0" i="0" u="none">
                <a:solidFill>
                  <a:srgbClr val="334155"/>
                </a:solidFill>
                <a:latin typeface="Plus Jakarta Sans"/>
              </a:rPr>
              <a:t> Razão sinal-ruído extremamente baixa.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2025" y="2390784"/>
            <a:ext cx="762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 dirty="0">
                <a:solidFill>
                  <a:srgbClr val="334155"/>
                </a:solidFill>
                <a:latin typeface="Plus Jakarta Sans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8225" y="2352684"/>
            <a:ext cx="4800600" cy="457200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1" i="0" u="none" dirty="0" err="1">
                <a:solidFill>
                  <a:srgbClr val="334155"/>
                </a:solidFill>
                <a:latin typeface="Plus Jakarta Sans"/>
              </a:rPr>
              <a:t>Caudas</a:t>
            </a:r>
            <a:r>
              <a:rPr sz="1125" b="1" i="0" u="none" dirty="0">
                <a:solidFill>
                  <a:srgbClr val="334155"/>
                </a:solidFill>
                <a:latin typeface="Plus Jakarta Sans"/>
              </a:rPr>
              <a:t> </a:t>
            </a:r>
            <a:r>
              <a:rPr sz="1125" b="1" i="0" u="none" dirty="0" err="1">
                <a:solidFill>
                  <a:srgbClr val="334155"/>
                </a:solidFill>
                <a:latin typeface="Plus Jakarta Sans"/>
              </a:rPr>
              <a:t>Pesadas</a:t>
            </a:r>
            <a:r>
              <a:rPr sz="1125" b="1" i="0" u="none" dirty="0">
                <a:solidFill>
                  <a:srgbClr val="334155"/>
                </a:solidFill>
                <a:latin typeface="Plus Jakarta Sans"/>
              </a:rPr>
              <a:t>:</a:t>
            </a:r>
            <a:r>
              <a:rPr sz="1125" b="0" i="0" u="none" dirty="0">
                <a:solidFill>
                  <a:srgbClr val="334155"/>
                </a:solidFill>
                <a:latin typeface="Plus Jakarta Sans"/>
              </a:rPr>
              <a:t> </a:t>
            </a:r>
            <a:r>
              <a:rPr sz="1125" b="0" i="0" u="none" dirty="0" err="1">
                <a:solidFill>
                  <a:srgbClr val="334155"/>
                </a:solidFill>
                <a:latin typeface="Plus Jakarta Sans"/>
              </a:rPr>
              <a:t>Eventos</a:t>
            </a:r>
            <a:r>
              <a:rPr sz="1125" b="0" i="0" u="none" dirty="0">
                <a:solidFill>
                  <a:srgbClr val="334155"/>
                </a:solidFill>
                <a:latin typeface="Plus Jakarta Sans"/>
              </a:rPr>
              <a:t> </a:t>
            </a:r>
            <a:r>
              <a:rPr sz="1125" b="0" i="0" u="none" dirty="0" err="1">
                <a:solidFill>
                  <a:srgbClr val="334155"/>
                </a:solidFill>
                <a:latin typeface="Plus Jakarta Sans"/>
              </a:rPr>
              <a:t>extremos</a:t>
            </a:r>
            <a:r>
              <a:rPr sz="1125" b="0" i="0" u="none" dirty="0">
                <a:solidFill>
                  <a:srgbClr val="334155"/>
                </a:solidFill>
                <a:latin typeface="Plus Jakarta Sans"/>
              </a:rPr>
              <a:t> </a:t>
            </a:r>
            <a:r>
              <a:rPr sz="1125" b="0" i="0" u="none" dirty="0" err="1">
                <a:solidFill>
                  <a:srgbClr val="334155"/>
                </a:solidFill>
                <a:latin typeface="Plus Jakarta Sans"/>
              </a:rPr>
              <a:t>mais</a:t>
            </a:r>
            <a:r>
              <a:rPr sz="1125" b="0" i="0" u="none" dirty="0">
                <a:solidFill>
                  <a:srgbClr val="334155"/>
                </a:solidFill>
                <a:latin typeface="Plus Jakarta Sans"/>
              </a:rPr>
              <a:t> </a:t>
            </a:r>
            <a:r>
              <a:rPr sz="1125" b="0" i="0" u="none" dirty="0" err="1">
                <a:solidFill>
                  <a:srgbClr val="334155"/>
                </a:solidFill>
                <a:latin typeface="Plus Jakarta Sans"/>
              </a:rPr>
              <a:t>frequentes</a:t>
            </a:r>
            <a:r>
              <a:rPr sz="1125" b="0" i="0" u="none" dirty="0">
                <a:solidFill>
                  <a:srgbClr val="334155"/>
                </a:solidFill>
                <a:latin typeface="Plus Jakarta Sans"/>
              </a:rPr>
              <a:t> que o </a:t>
            </a:r>
            <a:r>
              <a:rPr sz="1125" b="0" i="0" u="none" dirty="0" err="1">
                <a:solidFill>
                  <a:srgbClr val="334155"/>
                </a:solidFill>
                <a:latin typeface="Plus Jakarta Sans"/>
              </a:rPr>
              <a:t>modelo</a:t>
            </a:r>
            <a:r>
              <a:rPr sz="1125" b="0" i="0" u="none" dirty="0">
                <a:solidFill>
                  <a:srgbClr val="334155"/>
                </a:solidFill>
                <a:latin typeface="Plus Jakarta Sans"/>
              </a:rPr>
              <a:t> </a:t>
            </a:r>
            <a:r>
              <a:rPr sz="1125" b="0" i="0" u="none" dirty="0" err="1">
                <a:solidFill>
                  <a:srgbClr val="334155"/>
                </a:solidFill>
                <a:latin typeface="Plus Jakarta Sans"/>
              </a:rPr>
              <a:t>Gaussiano</a:t>
            </a:r>
            <a:r>
              <a:rPr sz="1125" b="0" i="0" u="none" dirty="0">
                <a:solidFill>
                  <a:srgbClr val="334155"/>
                </a:solidFill>
                <a:latin typeface="Plus Jakarta Sans"/>
              </a:rPr>
              <a:t>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2025" y="2726535"/>
            <a:ext cx="762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 dirty="0">
                <a:solidFill>
                  <a:srgbClr val="334155"/>
                </a:solidFill>
                <a:latin typeface="Plus Jakarta Sans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8225" y="2681287"/>
            <a:ext cx="4800600" cy="457200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1" i="0" u="none">
                <a:solidFill>
                  <a:srgbClr val="334155"/>
                </a:solidFill>
                <a:latin typeface="Plus Jakarta Sans"/>
              </a:rPr>
              <a:t>Não-Estacionariedade:</a:t>
            </a:r>
            <a:r>
              <a:rPr sz="1125" b="0" i="0" u="none">
                <a:solidFill>
                  <a:srgbClr val="334155"/>
                </a:solidFill>
                <a:latin typeface="Plus Jakarta Sans"/>
              </a:rPr>
              <a:t> Mudanças estruturais de regime de mercado.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7262" y="3100378"/>
            <a:ext cx="762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 dirty="0">
                <a:solidFill>
                  <a:srgbClr val="334155"/>
                </a:solidFill>
                <a:latin typeface="Plus Jakarta Sans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8225" y="3052753"/>
            <a:ext cx="4800600" cy="457200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1" i="0" u="none" dirty="0" err="1">
                <a:solidFill>
                  <a:srgbClr val="334155"/>
                </a:solidFill>
                <a:latin typeface="Plus Jakarta Sans"/>
              </a:rPr>
              <a:t>Observabilidade</a:t>
            </a:r>
            <a:r>
              <a:rPr sz="1125" b="1" i="0" u="none" dirty="0">
                <a:solidFill>
                  <a:srgbClr val="334155"/>
                </a:solidFill>
                <a:latin typeface="Plus Jakarta Sans"/>
              </a:rPr>
              <a:t> </a:t>
            </a:r>
            <a:r>
              <a:rPr sz="1125" b="1" i="0" u="none" dirty="0" err="1">
                <a:solidFill>
                  <a:srgbClr val="334155"/>
                </a:solidFill>
                <a:latin typeface="Plus Jakarta Sans"/>
              </a:rPr>
              <a:t>Parcial</a:t>
            </a:r>
            <a:r>
              <a:rPr sz="1125" b="1" i="0" u="none" dirty="0">
                <a:solidFill>
                  <a:srgbClr val="334155"/>
                </a:solidFill>
                <a:latin typeface="Plus Jakarta Sans"/>
              </a:rPr>
              <a:t>:</a:t>
            </a:r>
            <a:r>
              <a:rPr sz="1125" b="0" i="0" u="none" dirty="0">
                <a:solidFill>
                  <a:srgbClr val="334155"/>
                </a:solidFill>
                <a:latin typeface="Plus Jakarta Sans"/>
              </a:rPr>
              <a:t> </a:t>
            </a:r>
            <a:r>
              <a:rPr sz="1125" b="0" i="0" u="none" dirty="0" err="1">
                <a:solidFill>
                  <a:srgbClr val="334155"/>
                </a:solidFill>
                <a:latin typeface="Plus Jakarta Sans"/>
              </a:rPr>
              <a:t>Informações</a:t>
            </a:r>
            <a:r>
              <a:rPr sz="1125" b="0" i="0" u="none" dirty="0">
                <a:solidFill>
                  <a:srgbClr val="334155"/>
                </a:solidFill>
                <a:latin typeface="Plus Jakarta Sans"/>
              </a:rPr>
              <a:t> </a:t>
            </a:r>
            <a:r>
              <a:rPr sz="1125" b="0" i="0" u="none" dirty="0" err="1">
                <a:solidFill>
                  <a:srgbClr val="334155"/>
                </a:solidFill>
                <a:latin typeface="Plus Jakarta Sans"/>
              </a:rPr>
              <a:t>latentes</a:t>
            </a:r>
            <a:r>
              <a:rPr sz="1125" b="0" i="0" u="none" dirty="0">
                <a:solidFill>
                  <a:srgbClr val="334155"/>
                </a:solidFill>
                <a:latin typeface="Plus Jakarta Sans"/>
              </a:rPr>
              <a:t> e long-range dependency.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29425" y="1624012"/>
            <a:ext cx="321290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Limitações Metodológicas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65900" y="2033586"/>
            <a:ext cx="762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 dirty="0">
                <a:solidFill>
                  <a:srgbClr val="334155"/>
                </a:solidFill>
                <a:latin typeface="Plus Jakarta Sans"/>
              </a:rP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38925" y="1995487"/>
            <a:ext cx="4800600" cy="457200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1" i="0" u="none">
                <a:solidFill>
                  <a:srgbClr val="334155"/>
                </a:solidFill>
                <a:latin typeface="Plus Jakarta Sans"/>
              </a:rPr>
              <a:t>Falta de Explicabilidade:</a:t>
            </a:r>
            <a:r>
              <a:rPr sz="1125" b="0" i="0" u="none">
                <a:solidFill>
                  <a:srgbClr val="334155"/>
                </a:solidFill>
                <a:latin typeface="Plus Jakarta Sans"/>
              </a:rPr>
              <a:t> Modelos "caixa-preta" barram adoção institucional.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65900" y="2495549"/>
            <a:ext cx="762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334155"/>
                </a:solidFill>
                <a:latin typeface="Plus Jakarta Sans"/>
              </a:rP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38925" y="2452687"/>
            <a:ext cx="4800600" cy="457200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1" i="0" u="none">
                <a:solidFill>
                  <a:srgbClr val="334155"/>
                </a:solidFill>
                <a:latin typeface="Plus Jakarta Sans"/>
              </a:rPr>
              <a:t>Modelagem do MDP:</a:t>
            </a:r>
            <a:r>
              <a:rPr sz="1125" b="0" i="0" u="none">
                <a:solidFill>
                  <a:srgbClr val="334155"/>
                </a:solidFill>
                <a:latin typeface="Plus Jakarta Sans"/>
              </a:rPr>
              <a:t> Dificuldade na escolha de estados e recompensas.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62725" y="2957512"/>
            <a:ext cx="762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 dirty="0">
                <a:solidFill>
                  <a:srgbClr val="334155"/>
                </a:solidFill>
                <a:latin typeface="Plus Jakarta Sans"/>
              </a:rPr>
              <a:t>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38925" y="2909887"/>
            <a:ext cx="4800600" cy="457200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1" i="0" u="none">
                <a:solidFill>
                  <a:srgbClr val="334155"/>
                </a:solidFill>
                <a:latin typeface="Plus Jakarta Sans"/>
              </a:rPr>
              <a:t>Ausência de Benchmarks:</a:t>
            </a:r>
            <a:r>
              <a:rPr sz="1125" b="0" i="0" u="none">
                <a:solidFill>
                  <a:srgbClr val="334155"/>
                </a:solidFill>
                <a:latin typeface="Plus Jakarta Sans"/>
              </a:rPr>
              <a:t> Ambientes não padronizados (com exceções como FinRL).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62725" y="3367087"/>
            <a:ext cx="762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334155"/>
                </a:solidFill>
                <a:latin typeface="Plus Jakarta Sans"/>
              </a:rPr>
              <a:t>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38925" y="3367087"/>
            <a:ext cx="5553075" cy="228600"/>
          </a:xfrm>
          <a:prstGeom prst="rect">
            <a:avLst/>
          </a:prstGeom>
          <a:noFill/>
        </p:spPr>
        <p:txBody>
          <a:bodyPr wrap="none" lIns="7620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1" i="0" u="none">
                <a:solidFill>
                  <a:srgbClr val="334155"/>
                </a:solidFill>
                <a:latin typeface="Plus Jakarta Sans"/>
              </a:rPr>
              <a:t>Sim-to-Real Gap:</a:t>
            </a:r>
            <a:r>
              <a:rPr sz="1125" b="0" i="0" u="none">
                <a:solidFill>
                  <a:srgbClr val="334155"/>
                </a:solidFill>
                <a:latin typeface="Plus Jakarta Sans"/>
              </a:rPr>
              <a:t> Políticas de simulação falham em produção.</a:t>
            </a:r>
          </a:p>
        </p:txBody>
      </p:sp>
      <p:sp>
        <p:nvSpPr>
          <p:cNvPr id="41" name="TextBox 10">
            <a:extLst>
              <a:ext uri="{FF2B5EF4-FFF2-40B4-BE49-F238E27FC236}">
                <a16:creationId xmlns:a16="http://schemas.microsoft.com/office/drawing/2014/main" id="{6B358B43-F30E-AFBD-39AB-2971C5F8E7BD}"/>
              </a:ext>
            </a:extLst>
          </p:cNvPr>
          <p:cNvSpPr txBox="1"/>
          <p:nvPr/>
        </p:nvSpPr>
        <p:spPr>
          <a:xfrm>
            <a:off x="609600" y="6229350"/>
            <a:ext cx="679673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 dirty="0">
                <a:solidFill>
                  <a:srgbClr val="64748B"/>
                </a:solidFill>
                <a:latin typeface="Plus Jakarta Sans"/>
              </a:rPr>
              <a:t>Slide </a:t>
            </a:r>
            <a:r>
              <a:rPr lang="pt-BR" sz="1050" b="0" i="0" u="none" dirty="0">
                <a:solidFill>
                  <a:srgbClr val="64748B"/>
                </a:solidFill>
                <a:latin typeface="Plus Jakarta Sans"/>
              </a:rPr>
              <a:t>10</a:t>
            </a:r>
            <a:r>
              <a:rPr sz="1050" b="0" i="0" u="none" dirty="0">
                <a:solidFill>
                  <a:srgbClr val="64748B"/>
                </a:solidFill>
                <a:latin typeface="Plus Jakarta Sans"/>
              </a:rPr>
              <a:t>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6067425"/>
            <a:ext cx="10972800" cy="3333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074491"/>
            <a:ext cx="10972800" cy="1257300"/>
          </a:xfrm>
          <a:prstGeom prst="roundRect">
            <a:avLst>
              <a:gd name="adj" fmla="val 9090"/>
            </a:avLst>
          </a:prstGeom>
          <a:solidFill>
            <a:srgbClr val="111F3D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6067425"/>
            <a:ext cx="109728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1352550"/>
            <a:ext cx="2628900" cy="1455241"/>
          </a:xfrm>
          <a:prstGeom prst="roundRect">
            <a:avLst>
              <a:gd name="adj" fmla="val 6545"/>
            </a:avLst>
          </a:prstGeom>
          <a:solidFill>
            <a:srgbClr val="1B2538"/>
          </a:solidFill>
          <a:ln w="9525">
            <a:solidFill>
              <a:srgbClr val="272E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390900" y="1352550"/>
            <a:ext cx="2628900" cy="1455241"/>
          </a:xfrm>
          <a:prstGeom prst="roundRect">
            <a:avLst>
              <a:gd name="adj" fmla="val 6545"/>
            </a:avLst>
          </a:prstGeom>
          <a:solidFill>
            <a:srgbClr val="1B2538"/>
          </a:solidFill>
          <a:ln w="9525">
            <a:solidFill>
              <a:srgbClr val="272E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172200" y="1352550"/>
            <a:ext cx="2628900" cy="1455241"/>
          </a:xfrm>
          <a:prstGeom prst="roundRect">
            <a:avLst>
              <a:gd name="adj" fmla="val 6545"/>
            </a:avLst>
          </a:prstGeom>
          <a:solidFill>
            <a:srgbClr val="1B2538"/>
          </a:solidFill>
          <a:ln w="9525">
            <a:solidFill>
              <a:srgbClr val="272E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953500" y="1352550"/>
            <a:ext cx="2628900" cy="1455241"/>
          </a:xfrm>
          <a:prstGeom prst="roundRect">
            <a:avLst>
              <a:gd name="adj" fmla="val 6545"/>
            </a:avLst>
          </a:prstGeom>
          <a:solidFill>
            <a:srgbClr val="1B2538"/>
          </a:solidFill>
          <a:ln w="9525">
            <a:solidFill>
              <a:srgbClr val="272E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09600" y="457200"/>
            <a:ext cx="115824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38BDF8"/>
                </a:solidFill>
                <a:latin typeface="Plus Jakarta Sans"/>
              </a:rPr>
              <a:t>AGENDA DE PESQUISA &amp; SÍNTESE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714375"/>
            <a:ext cx="11582400" cy="409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FFFFFF"/>
                </a:solidFill>
                <a:latin typeface="Space Grotesk"/>
              </a:rPr>
              <a:t>Para Onde a Pesquisa Deve Avançar?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229350"/>
            <a:ext cx="335756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 dirty="0">
                <a:solidFill>
                  <a:srgbClr val="64748B"/>
                </a:solidFill>
                <a:latin typeface="Plus Jakarta Sans"/>
              </a:rPr>
              <a:t>Slide 11 / 11 — </a:t>
            </a:r>
            <a:r>
              <a:rPr sz="1050" b="0" i="0" u="none" dirty="0" err="1">
                <a:solidFill>
                  <a:srgbClr val="64748B"/>
                </a:solidFill>
                <a:latin typeface="Plus Jakarta Sans"/>
              </a:rPr>
              <a:t>Trabalhos</a:t>
            </a:r>
            <a:r>
              <a:rPr sz="1050" b="0" i="0" u="none" dirty="0">
                <a:solidFill>
                  <a:srgbClr val="64748B"/>
                </a:solidFill>
                <a:latin typeface="Plus Jakarta Sans"/>
              </a:rPr>
              <a:t> </a:t>
            </a:r>
            <a:r>
              <a:rPr sz="1050" b="0" i="0" u="none" dirty="0" err="1">
                <a:solidFill>
                  <a:srgbClr val="64748B"/>
                </a:solidFill>
                <a:latin typeface="Plus Jakarta Sans"/>
              </a:rPr>
              <a:t>Futuros</a:t>
            </a:r>
            <a:r>
              <a:rPr sz="1050" b="0" i="0" u="none" dirty="0">
                <a:solidFill>
                  <a:srgbClr val="64748B"/>
                </a:solidFill>
                <a:latin typeface="Plus Jakarta Sans"/>
              </a:rPr>
              <a:t> &amp; </a:t>
            </a:r>
            <a:r>
              <a:rPr sz="1050" b="0" i="0" u="none" dirty="0" err="1">
                <a:solidFill>
                  <a:srgbClr val="64748B"/>
                </a:solidFill>
                <a:latin typeface="Plus Jakarta Sans"/>
              </a:rPr>
              <a:t>Conclusão</a:t>
            </a:r>
            <a:endParaRPr sz="1050" b="0" i="0" u="none" dirty="0">
              <a:solidFill>
                <a:srgbClr val="64748B"/>
              </a:solidFill>
              <a:latin typeface="Plus Jakarta San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679221" y="3312616"/>
            <a:ext cx="833563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pt-BR" sz="975" b="1" i="0" u="none" dirty="0">
                <a:solidFill>
                  <a:srgbClr val="60A5FA"/>
                </a:solidFill>
                <a:latin typeface="Plus Jakarta Sans"/>
              </a:rPr>
              <a:t>Mensagem final</a:t>
            </a:r>
            <a:endParaRPr sz="975" b="1" i="0" u="none" dirty="0">
              <a:solidFill>
                <a:srgbClr val="60A5FA"/>
              </a:solidFill>
              <a:latin typeface="Plus Jakarta San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09625" y="3522166"/>
            <a:ext cx="106680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1" i="0" u="none" dirty="0">
                <a:solidFill>
                  <a:srgbClr val="FFFFFF"/>
                </a:solidFill>
                <a:latin typeface="Plus Jakarta Sans"/>
              </a:rPr>
              <a:t>RL </a:t>
            </a:r>
            <a:r>
              <a:rPr sz="1500" b="1" i="0" u="none" dirty="0" err="1">
                <a:solidFill>
                  <a:srgbClr val="FFFFFF"/>
                </a:solidFill>
                <a:latin typeface="Plus Jakarta Sans"/>
              </a:rPr>
              <a:t>apresenta</a:t>
            </a:r>
            <a:r>
              <a:rPr sz="1500" b="1" i="0" u="none" dirty="0">
                <a:solidFill>
                  <a:srgbClr val="FFFFFF"/>
                </a:solidFill>
                <a:latin typeface="Plus Jakarta Sans"/>
              </a:rPr>
              <a:t> </a:t>
            </a:r>
            <a:r>
              <a:rPr sz="1500" b="1" i="0" u="none" dirty="0" err="1">
                <a:solidFill>
                  <a:srgbClr val="FFFFFF"/>
                </a:solidFill>
                <a:latin typeface="Plus Jakarta Sans"/>
              </a:rPr>
              <a:t>resultados</a:t>
            </a:r>
            <a:r>
              <a:rPr sz="1500" b="1" i="0" u="none" dirty="0">
                <a:solidFill>
                  <a:srgbClr val="FFFFFF"/>
                </a:solidFill>
                <a:latin typeface="Plus Jakarta Sans"/>
              </a:rPr>
              <a:t> </a:t>
            </a:r>
            <a:r>
              <a:rPr sz="1500" b="1" i="0" u="none" dirty="0" err="1">
                <a:solidFill>
                  <a:srgbClr val="FFFFFF"/>
                </a:solidFill>
                <a:latin typeface="Plus Jakarta Sans"/>
              </a:rPr>
              <a:t>promissores</a:t>
            </a:r>
            <a:r>
              <a:rPr sz="1500" b="1" i="0" u="none" dirty="0">
                <a:solidFill>
                  <a:srgbClr val="FFFFFF"/>
                </a:solidFill>
                <a:latin typeface="Plus Jakarta Sans"/>
              </a:rPr>
              <a:t> </a:t>
            </a:r>
            <a:r>
              <a:rPr sz="1500" b="1" i="0" u="none" dirty="0" err="1">
                <a:solidFill>
                  <a:srgbClr val="FFFFFF"/>
                </a:solidFill>
                <a:latin typeface="Plus Jakarta Sans"/>
              </a:rPr>
              <a:t>em</a:t>
            </a:r>
            <a:r>
              <a:rPr sz="1500" b="1" i="0" u="none" dirty="0">
                <a:solidFill>
                  <a:srgbClr val="FFFFFF"/>
                </a:solidFill>
                <a:latin typeface="Plus Jakarta Sans"/>
              </a:rPr>
              <a:t> </a:t>
            </a:r>
            <a:r>
              <a:rPr sz="1500" b="1" i="0" u="none" dirty="0" err="1">
                <a:solidFill>
                  <a:srgbClr val="FFFFFF"/>
                </a:solidFill>
                <a:latin typeface="Plus Jakarta Sans"/>
              </a:rPr>
              <a:t>finanças</a:t>
            </a:r>
            <a:r>
              <a:rPr sz="1500" b="1" i="0" u="none" dirty="0">
                <a:solidFill>
                  <a:srgbClr val="FFFFFF"/>
                </a:solidFill>
                <a:latin typeface="Plus Jakarta Sans"/>
              </a:rPr>
              <a:t>, mas </a:t>
            </a:r>
            <a:r>
              <a:rPr sz="1500" b="1" i="0" u="none" dirty="0" err="1">
                <a:solidFill>
                  <a:srgbClr val="FFFFFF"/>
                </a:solidFill>
                <a:latin typeface="Plus Jakarta Sans"/>
              </a:rPr>
              <a:t>sua</a:t>
            </a:r>
            <a:r>
              <a:rPr sz="1500" b="1" i="0" u="none" dirty="0">
                <a:solidFill>
                  <a:srgbClr val="FFFFFF"/>
                </a:solidFill>
                <a:latin typeface="Plus Jakarta Sans"/>
              </a:rPr>
              <a:t> </a:t>
            </a:r>
            <a:r>
              <a:rPr sz="1500" b="1" i="0" u="none" dirty="0" err="1">
                <a:solidFill>
                  <a:srgbClr val="FFFFFF"/>
                </a:solidFill>
                <a:latin typeface="Plus Jakarta Sans"/>
              </a:rPr>
              <a:t>adoção</a:t>
            </a:r>
            <a:r>
              <a:rPr sz="1500" b="1" i="0" u="none" dirty="0">
                <a:solidFill>
                  <a:srgbClr val="FFFFFF"/>
                </a:solidFill>
                <a:latin typeface="Plus Jakarta Sans"/>
              </a:rPr>
              <a:t> </a:t>
            </a:r>
            <a:r>
              <a:rPr sz="1500" b="1" i="0" u="none" dirty="0" err="1">
                <a:solidFill>
                  <a:srgbClr val="FFFFFF"/>
                </a:solidFill>
                <a:latin typeface="Plus Jakarta Sans"/>
              </a:rPr>
              <a:t>confiável</a:t>
            </a:r>
            <a:r>
              <a:rPr sz="1500" b="1" i="0" u="none" dirty="0">
                <a:solidFill>
                  <a:srgbClr val="FFFFFF"/>
                </a:solidFill>
                <a:latin typeface="Plus Jakarta Sans"/>
              </a:rPr>
              <a:t> </a:t>
            </a:r>
            <a:r>
              <a:rPr sz="1500" b="1" i="0" u="none" dirty="0" err="1">
                <a:solidFill>
                  <a:srgbClr val="FFFFFF"/>
                </a:solidFill>
                <a:latin typeface="Plus Jakarta Sans"/>
              </a:rPr>
              <a:t>depende</a:t>
            </a:r>
            <a:r>
              <a:rPr sz="1500" b="1" i="0" u="none" dirty="0">
                <a:solidFill>
                  <a:srgbClr val="FFFFFF"/>
                </a:solidFill>
                <a:latin typeface="Plus Jakarta Sans"/>
              </a:rPr>
              <a:t> de MDPs </a:t>
            </a:r>
            <a:r>
              <a:rPr sz="1500" b="1" i="0" u="none" dirty="0" err="1">
                <a:solidFill>
                  <a:srgbClr val="FFFFFF"/>
                </a:solidFill>
                <a:latin typeface="Plus Jakarta Sans"/>
              </a:rPr>
              <a:t>bem</a:t>
            </a:r>
            <a:r>
              <a:rPr sz="1500" b="1" i="0" u="none" dirty="0">
                <a:solidFill>
                  <a:srgbClr val="FFFFFF"/>
                </a:solidFill>
                <a:latin typeface="Plus Jakarta Sans"/>
              </a:rPr>
              <a:t> </a:t>
            </a:r>
            <a:r>
              <a:rPr sz="1500" b="1" i="0" u="none" dirty="0" err="1">
                <a:solidFill>
                  <a:srgbClr val="FFFFFF"/>
                </a:solidFill>
                <a:latin typeface="Plus Jakarta Sans"/>
              </a:rPr>
              <a:t>formulados</a:t>
            </a:r>
            <a:r>
              <a:rPr sz="1500" b="1" i="0" u="none" dirty="0">
                <a:solidFill>
                  <a:srgbClr val="FFFFFF"/>
                </a:solidFill>
                <a:latin typeface="Plus Jakarta Sans"/>
              </a:rPr>
              <a:t>, </a:t>
            </a:r>
            <a:r>
              <a:rPr sz="1500" b="1" i="0" u="none" dirty="0" err="1">
                <a:solidFill>
                  <a:srgbClr val="FFFFFF"/>
                </a:solidFill>
                <a:latin typeface="Plus Jakarta Sans"/>
              </a:rPr>
              <a:t>avaliações</a:t>
            </a:r>
            <a:r>
              <a:rPr sz="1500" b="1" i="0" u="none" dirty="0">
                <a:solidFill>
                  <a:srgbClr val="FFFFFF"/>
                </a:solidFill>
                <a:latin typeface="Plus Jakarta Sans"/>
              </a:rPr>
              <a:t> </a:t>
            </a:r>
            <a:r>
              <a:rPr sz="1500" b="1" i="0" u="none" dirty="0" err="1">
                <a:solidFill>
                  <a:srgbClr val="FFFFFF"/>
                </a:solidFill>
                <a:latin typeface="Plus Jakarta Sans"/>
              </a:rPr>
              <a:t>realistas</a:t>
            </a:r>
            <a:r>
              <a:rPr sz="1500" b="1" i="0" u="none" dirty="0">
                <a:solidFill>
                  <a:srgbClr val="FFFFFF"/>
                </a:solidFill>
                <a:latin typeface="Plus Jakarta Sans"/>
              </a:rPr>
              <a:t>, </a:t>
            </a:r>
            <a:r>
              <a:rPr sz="1500" b="1" i="0" u="none" dirty="0" err="1">
                <a:solidFill>
                  <a:srgbClr val="FFFFFF"/>
                </a:solidFill>
                <a:latin typeface="Plus Jakarta Sans"/>
              </a:rPr>
              <a:t>robustez</a:t>
            </a:r>
            <a:r>
              <a:rPr sz="1500" b="1" i="0" u="none" dirty="0">
                <a:solidFill>
                  <a:srgbClr val="FFFFFF"/>
                </a:solidFill>
                <a:latin typeface="Plus Jakarta Sans"/>
              </a:rPr>
              <a:t> e benchmarks </a:t>
            </a:r>
            <a:r>
              <a:rPr sz="1500" b="1" i="0" u="none" dirty="0" err="1">
                <a:solidFill>
                  <a:srgbClr val="FFFFFF"/>
                </a:solidFill>
                <a:latin typeface="Plus Jakarta Sans"/>
              </a:rPr>
              <a:t>comparáveis</a:t>
            </a:r>
            <a:r>
              <a:rPr sz="1500" b="1" i="0" u="none" dirty="0">
                <a:solidFill>
                  <a:srgbClr val="FFFFFF"/>
                </a:solidFill>
                <a:latin typeface="Plus Jakarta Sans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625" y="1552575"/>
            <a:ext cx="278606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Plus Jakarta Sans"/>
              </a:rPr>
              <a:t>01. MULTI-AGENT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625" y="1781175"/>
            <a:ext cx="2925365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FFFFFF"/>
                </a:solidFill>
                <a:latin typeface="Plus Jakarta Sans"/>
              </a:rPr>
              <a:t>Multi-Agent RL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625" y="2047875"/>
            <a:ext cx="2324100" cy="5598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94A3B8"/>
                </a:solidFill>
                <a:latin typeface="Plus Jakarta Sans"/>
              </a:rPr>
              <a:t>Modelagem de competição, ordens adversariais e dinâmica interativa.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90925" y="1552575"/>
            <a:ext cx="278606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Plus Jakarta Sans"/>
              </a:rPr>
              <a:t>02. MODEL-BASED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90925" y="1781175"/>
            <a:ext cx="2925365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FFFFFF"/>
                </a:solidFill>
                <a:latin typeface="Plus Jakarta Sans"/>
              </a:rPr>
              <a:t>Model-Based RL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90925" y="2047875"/>
            <a:ext cx="2324100" cy="5598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94A3B8"/>
                </a:solidFill>
                <a:latin typeface="Plus Jakarta Sans"/>
              </a:rPr>
              <a:t>Construção de simuladores fidedignos para planejamento e eficiência.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2225" y="1552575"/>
            <a:ext cx="278606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Plus Jakarta Sans"/>
              </a:rPr>
              <a:t>03. OFFLINE RL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2225" y="1781175"/>
            <a:ext cx="2925365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FFFFFF"/>
                </a:solidFill>
                <a:latin typeface="Plus Jakarta Sans"/>
              </a:rPr>
              <a:t>Offline RL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2225" y="2047875"/>
            <a:ext cx="2324100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94A3B8"/>
                </a:solidFill>
                <a:latin typeface="Plus Jakarta Sans"/>
              </a:rPr>
              <a:t>Aprendizado direto de trajetórias históricas sem exploração online.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53525" y="1552575"/>
            <a:ext cx="278606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Plus Jakarta Sans"/>
              </a:rPr>
              <a:t>04. RISK-SENSITIVE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53525" y="1781175"/>
            <a:ext cx="2925365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FFFFFF"/>
                </a:solidFill>
                <a:latin typeface="Plus Jakarta Sans"/>
              </a:rPr>
              <a:t>Risk-Sensitive RL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525" y="2047875"/>
            <a:ext cx="2324100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94A3B8"/>
                </a:solidFill>
                <a:latin typeface="Plus Jakarta Sans"/>
              </a:rPr>
              <a:t>Incorporação de restrições de risco nos algoritmos de otimização.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</TotalTime>
  <Words>1312</Words>
  <Application>Microsoft Office PowerPoint</Application>
  <PresentationFormat>Widescreen</PresentationFormat>
  <Paragraphs>220</Paragraphs>
  <Slides>11</Slides>
  <Notes>3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6" baseType="lpstr">
      <vt:lpstr>Space Grotesk</vt:lpstr>
      <vt:lpstr>Plus Jakarta Sans</vt:lpstr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Rafael Soares</dc:creator>
  <cp:keywords/>
  <dc:description>generated using python-pptx</dc:description>
  <cp:lastModifiedBy>Rafael Soares</cp:lastModifiedBy>
  <cp:revision>5</cp:revision>
  <dcterms:created xsi:type="dcterms:W3CDTF">2013-01-27T09:14:16Z</dcterms:created>
  <dcterms:modified xsi:type="dcterms:W3CDTF">2026-10-09T04:44:44Z</dcterms:modified>
  <cp:category/>
</cp:coreProperties>
</file>